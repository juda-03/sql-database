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7" r:id="rId8"/>
    <p:sldId id="266" r:id="rId9"/>
    <p:sldId id="262" r:id="rId10"/>
    <p:sldId id="263" r:id="rId11"/>
    <p:sldId id="264" r:id="rId12"/>
    <p:sldId id="265"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1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891"/>
    <p:restoredTop sz="95940"/>
  </p:normalViewPr>
  <p:slideViewPr>
    <p:cSldViewPr snapToGrid="0" snapToObjects="1">
      <p:cViewPr varScale="1">
        <p:scale>
          <a:sx n="149" d="100"/>
          <a:sy n="149" d="100"/>
        </p:scale>
        <p:origin x="176"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7497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Good morning. We are reopening our chocolate business in 2026, so we looked back at 2022-2023 sales data to guide where we should focus next. The goal is not just to describe past sales, but to turn those numbers into practical reopening decisions.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Our business case is simple: use historical sales to decide where to relaunch, which products to prioritize, which channels to focus on, and what seasonal timing matters most. We answer three questions around market priority, demand drivers, and sales performance.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The project follows an ETL pipeline. We extracted the Kaggle chocolate sales CSV, cleaned and normalized it with Python and Pandas, exported three clean tables, and loaded them into MySQL. The final invoice table has 199,563 clean rows linked to products and salespeople.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The database has one central invoices table and two dimension tables: products and salespersons. This structure lets us join sales activity back to product names and salesperson names while keeping the model simple and reliable.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Australia is the largest revenue market at about $62.1 million, so it is the best market for scale. However, Brazil has the strongest marketing efficiency at 10.80 dollars of revenue per marketing dollar. Our recommendation is to prioritize Australia for scale while learning from Brazil's efficiency.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The strongest revenue product is Mixed Assortment Box, which suggests gift and assortment products should be central to the reopening offer. Retail is the leading revenue channel, while Wholesale remains important for volume. Seasonally, the peak is at year-end rather than summer.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0CEBE-B60D-E104-3218-6746CEF4C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218F6-3A0C-1B4A-6ACA-59D9D0836B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85D277-0473-48D7-ABCE-3F71E373DE31}"/>
              </a:ext>
            </a:extLst>
          </p:cNvPr>
          <p:cNvSpPr>
            <a:spLocks noGrp="1"/>
          </p:cNvSpPr>
          <p:nvPr>
            <p:ph type="body" idx="1"/>
          </p:nvPr>
        </p:nvSpPr>
        <p:spPr/>
        <p:txBody>
          <a:bodyPr/>
          <a:lstStyle/>
          <a:p>
            <a:r>
              <a:rPr lang="en-US" dirty="0"/>
              <a:t>Speaker 1: The strongest revenue product is Mixed Assortment Box, which suggests gift and assortment products should be central to the reopening offer. Retail is the leading revenue channel, while Wholesale remains important for volume. Seasonally, the peak is at year-end rather than summer.</a:t>
            </a:r>
          </a:p>
        </p:txBody>
      </p:sp>
      <p:sp>
        <p:nvSpPr>
          <p:cNvPr id="4" name="Slide Number Placeholder 3">
            <a:extLst>
              <a:ext uri="{FF2B5EF4-FFF2-40B4-BE49-F238E27FC236}">
                <a16:creationId xmlns:a16="http://schemas.microsoft.com/office/drawing/2014/main" id="{8B4D3D56-979E-BFB2-E4B7-5800469F28A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87322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The salesforce analysis shows Arjun Mehta leading revenue by a large margin. Average discount rates among the top sellers are similar, so the result seems less about extreme discounting and more about account coverage, market mix, and execution.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SQL was used to aggregate the normalized tables into decision views, and Python turned those SQL outputs into presentation charts. We also made a clear data-quality choice: return rows are excluded from sales KPIs so they do not reduce market demand as negative sales.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The main challenge was deciding how to treat messy business data, especially negative boxes shipped. The main learning is that a simple ERD and reusable notebooks make the analysis easier to refresh when the business story changes.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Our 2026 strategy is to lead with Australia for scale, use Brazil as a marketing-efficiency benchmark, prioritize Mixed Assortment Box for revenue, keep 70% Dark Bar for high unit demand, and make Retail the main launch channel while preserving Wholesale as a volume lever.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1000125" y="1085683"/>
            <a:ext cx="7143750" cy="2972135"/>
          </a:xfrm>
          <a:prstGeom prst="rect">
            <a:avLst/>
          </a:prstGeom>
          <a:solidFill>
            <a:srgbClr val="FFFFFF"/>
          </a:solidFill>
          <a:ln w="54864">
            <a:solidFill>
              <a:srgbClr val="1A0B08"/>
            </a:solidFill>
            <a:prstDash val="solid"/>
          </a:ln>
        </p:spPr>
        <p:txBody>
          <a:bodyPr/>
          <a:lstStyle/>
          <a:p>
            <a:endParaRPr lang="es-ES"/>
          </a:p>
        </p:txBody>
      </p:sp>
      <p:sp>
        <p:nvSpPr>
          <p:cNvPr id="5" name="Text 1"/>
          <p:cNvSpPr/>
          <p:nvPr/>
        </p:nvSpPr>
        <p:spPr>
          <a:xfrm>
            <a:off x="1428750" y="1571458"/>
            <a:ext cx="6286500" cy="1005818"/>
          </a:xfrm>
          <a:prstGeom prst="rect">
            <a:avLst/>
          </a:prstGeom>
          <a:noFill/>
          <a:ln/>
        </p:spPr>
        <p:txBody>
          <a:bodyPr wrap="square" lIns="0" tIns="0" rIns="0" bIns="0" rtlCol="0" anchor="t">
            <a:spAutoFit/>
          </a:bodyPr>
          <a:lstStyle/>
          <a:p>
            <a:pPr marL="0" indent="0" algn="l">
              <a:lnSpc>
                <a:spcPct val="88000"/>
              </a:lnSpc>
              <a:buNone/>
            </a:pPr>
            <a:r>
              <a:rPr lang="en-US" sz="3300" b="1" kern="0" spc="-2" dirty="0">
                <a:solidFill>
                  <a:srgbClr val="1A0B08"/>
                </a:solidFill>
                <a:latin typeface="Segoe UI" pitchFamily="34" charset="0"/>
                <a:ea typeface="Segoe UI" pitchFamily="34" charset="-122"/>
                <a:cs typeface="Segoe UI" pitchFamily="34" charset="-120"/>
              </a:rPr>
              <a:t>CHOCOLATE MARKET STRATEGIC ANALYSIS</a:t>
            </a:r>
            <a:endParaRPr lang="en-US" sz="3300" dirty="0"/>
          </a:p>
        </p:txBody>
      </p:sp>
      <p:sp>
        <p:nvSpPr>
          <p:cNvPr id="6" name="Text 2"/>
          <p:cNvSpPr/>
          <p:nvPr/>
        </p:nvSpPr>
        <p:spPr>
          <a:xfrm>
            <a:off x="1428750" y="2720150"/>
            <a:ext cx="6286500" cy="230386"/>
          </a:xfrm>
          <a:prstGeom prst="rect">
            <a:avLst/>
          </a:prstGeom>
          <a:noFill/>
          <a:ln/>
        </p:spPr>
        <p:txBody>
          <a:bodyPr wrap="square" lIns="0" tIns="0" rIns="0" bIns="0" rtlCol="0" anchor="t">
            <a:spAutoFit/>
          </a:bodyPr>
          <a:lstStyle/>
          <a:p>
            <a:r>
              <a:t>Reopening Strategy Guided by 2022-2023 Sales</a:t>
            </a:r>
          </a:p>
        </p:txBody>
      </p:sp>
      <p:pic>
        <p:nvPicPr>
          <p:cNvPr id="7" name="Image 1" descr="preencoded.png"/>
          <p:cNvPicPr>
            <a:picLocks noChangeAspect="1"/>
          </p:cNvPicPr>
          <p:nvPr/>
        </p:nvPicPr>
        <p:blipFill>
          <a:blip r:embed="rId4"/>
          <a:stretch>
            <a:fillRect/>
          </a:stretch>
        </p:blipFill>
        <p:spPr>
          <a:xfrm>
            <a:off x="1428750" y="3475006"/>
            <a:ext cx="178594" cy="142875"/>
          </a:xfrm>
          <a:prstGeom prst="rect">
            <a:avLst/>
          </a:prstGeom>
        </p:spPr>
      </p:pic>
      <p:sp>
        <p:nvSpPr>
          <p:cNvPr id="8" name="Text 3"/>
          <p:cNvSpPr/>
          <p:nvPr/>
        </p:nvSpPr>
        <p:spPr>
          <a:xfrm>
            <a:off x="1607344" y="3471435"/>
            <a:ext cx="2850607" cy="158948"/>
          </a:xfrm>
          <a:prstGeom prst="rect">
            <a:avLst/>
          </a:prstGeom>
          <a:noFill/>
          <a:ln/>
        </p:spPr>
        <p:txBody>
          <a:bodyPr wrap="square" lIns="0" tIns="0" rIns="0" bIns="0" rtlCol="0" anchor="t">
            <a:spAutoFit/>
          </a:bodyPr>
          <a:lstStyle/>
          <a:p>
            <a:pPr marL="0" indent="0" algn="l">
              <a:buNone/>
            </a:pPr>
            <a:r>
              <a:rPr lang="en-US" sz="1000" b="1" dirty="0">
                <a:solidFill>
                  <a:srgbClr val="2F3640"/>
                </a:solidFill>
                <a:latin typeface="Segoe UI" pitchFamily="34" charset="0"/>
                <a:ea typeface="Segoe UI" pitchFamily="34" charset="-122"/>
                <a:cs typeface="Segoe UI" pitchFamily="34" charset="-120"/>
              </a:rPr>
              <a:t>Team 6 Data Analysts: Juda, Juan, Malika</a:t>
            </a:r>
            <a:endParaRPr lang="en-US" sz="1000" dirty="0"/>
          </a:p>
        </p:txBody>
      </p:sp>
      <p:pic>
        <p:nvPicPr>
          <p:cNvPr id="9" name="Image 2" descr="preencoded.png"/>
          <p:cNvPicPr>
            <a:picLocks noChangeAspect="1"/>
          </p:cNvPicPr>
          <p:nvPr/>
        </p:nvPicPr>
        <p:blipFill>
          <a:blip r:embed="rId5"/>
          <a:stretch>
            <a:fillRect/>
          </a:stretch>
        </p:blipFill>
        <p:spPr>
          <a:xfrm>
            <a:off x="4672264" y="3475006"/>
            <a:ext cx="178594" cy="142875"/>
          </a:xfrm>
          <a:prstGeom prst="rect">
            <a:avLst/>
          </a:prstGeom>
        </p:spPr>
      </p:pic>
      <p:sp>
        <p:nvSpPr>
          <p:cNvPr id="10" name="Text 4"/>
          <p:cNvSpPr/>
          <p:nvPr/>
        </p:nvSpPr>
        <p:spPr>
          <a:xfrm>
            <a:off x="4850857" y="3471435"/>
            <a:ext cx="1577346" cy="158948"/>
          </a:xfrm>
          <a:prstGeom prst="rect">
            <a:avLst/>
          </a:prstGeom>
          <a:noFill/>
          <a:ln/>
        </p:spPr>
        <p:txBody>
          <a:bodyPr wrap="square" lIns="0" tIns="0" rIns="0" bIns="0" rtlCol="0" anchor="t">
            <a:spAutoFit/>
          </a:bodyPr>
          <a:lstStyle/>
          <a:p>
            <a:pPr marL="0" indent="0" algn="l">
              <a:buNone/>
            </a:pPr>
            <a:r>
              <a:rPr lang="en-US" sz="1000" b="1" dirty="0">
                <a:solidFill>
                  <a:srgbClr val="2F3640"/>
                </a:solidFill>
                <a:latin typeface="Segoe UI" pitchFamily="34" charset="0"/>
                <a:ea typeface="Segoe UI" pitchFamily="34" charset="-122"/>
                <a:cs typeface="Segoe UI" pitchFamily="34" charset="-120"/>
              </a:rPr>
              <a:t>Ironhack - SQL Project</a:t>
            </a:r>
            <a:endParaRPr lang="en-US" sz="1000" dirty="0"/>
          </a:p>
        </p:txBody>
      </p:sp>
      <p:sp>
        <p:nvSpPr>
          <p:cNvPr id="11" name="Shape 5"/>
          <p:cNvSpPr/>
          <p:nvPr/>
        </p:nvSpPr>
        <p:spPr>
          <a:xfrm>
            <a:off x="6935856" y="3654196"/>
            <a:ext cx="1065144" cy="203597"/>
          </a:xfrm>
          <a:prstGeom prst="rect">
            <a:avLst/>
          </a:prstGeom>
          <a:solidFill>
            <a:srgbClr val="1A0B08"/>
          </a:solidFill>
          <a:ln/>
        </p:spPr>
        <p:txBody>
          <a:bodyPr/>
          <a:lstStyle/>
          <a:p>
            <a:endParaRPr lang="es-ES"/>
          </a:p>
        </p:txBody>
      </p:sp>
      <p:sp>
        <p:nvSpPr>
          <p:cNvPr id="12" name="Text 6"/>
          <p:cNvSpPr/>
          <p:nvPr/>
        </p:nvSpPr>
        <p:spPr>
          <a:xfrm>
            <a:off x="6935856" y="3654196"/>
            <a:ext cx="1065144" cy="203597"/>
          </a:xfrm>
          <a:prstGeom prst="rect">
            <a:avLst/>
          </a:prstGeom>
          <a:noFill/>
          <a:ln/>
        </p:spPr>
        <p:txBody>
          <a:bodyPr wrap="none" lIns="127508" tIns="42545" rIns="127508" bIns="42545" rtlCol="0" anchor="t">
            <a:spAutoFit/>
          </a:bodyPr>
          <a:lstStyle/>
          <a:p>
            <a:pPr marL="0" indent="0" algn="l">
              <a:buNone/>
            </a:pPr>
            <a:r>
              <a:rPr lang="en-US" sz="800" b="1" dirty="0">
                <a:solidFill>
                  <a:srgbClr val="FDF0ED"/>
                </a:solidFill>
                <a:latin typeface="Segoe UI" pitchFamily="34" charset="0"/>
                <a:ea typeface="Segoe UI" pitchFamily="34" charset="-122"/>
                <a:cs typeface="Segoe UI" pitchFamily="34" charset="-120"/>
              </a:rPr>
              <a:t>CONFIDENTIAL</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153681"/>
            <a:ext cx="9144000" cy="5143500"/>
          </a:xfrm>
          <a:prstGeom prst="rect">
            <a:avLst/>
          </a:prstGeom>
        </p:spPr>
      </p:pic>
      <p:sp>
        <p:nvSpPr>
          <p:cNvPr id="4" name="Shape 0"/>
          <p:cNvSpPr/>
          <p:nvPr/>
        </p:nvSpPr>
        <p:spPr>
          <a:xfrm>
            <a:off x="-57150" y="-1"/>
            <a:ext cx="3571875" cy="5297181"/>
          </a:xfrm>
          <a:prstGeom prst="rect">
            <a:avLst/>
          </a:prstGeom>
          <a:solidFill>
            <a:srgbClr val="8B0000"/>
          </a:solidFill>
          <a:ln/>
        </p:spPr>
        <p:txBody>
          <a:bodyPr/>
          <a:lstStyle/>
          <a:p>
            <a:endParaRPr lang="es-ES"/>
          </a:p>
        </p:txBody>
      </p:sp>
      <p:sp>
        <p:nvSpPr>
          <p:cNvPr id="5" name="Shape 1"/>
          <p:cNvSpPr/>
          <p:nvPr/>
        </p:nvSpPr>
        <p:spPr>
          <a:xfrm>
            <a:off x="3514725" y="0"/>
            <a:ext cx="57150" cy="5405120"/>
          </a:xfrm>
          <a:prstGeom prst="rect">
            <a:avLst/>
          </a:prstGeom>
          <a:solidFill>
            <a:srgbClr val="1A0B08"/>
          </a:solidFill>
          <a:ln/>
        </p:spPr>
        <p:txBody>
          <a:bodyPr/>
          <a:lstStyle/>
          <a:p>
            <a:endParaRPr lang="es-ES"/>
          </a:p>
        </p:txBody>
      </p:sp>
      <p:sp>
        <p:nvSpPr>
          <p:cNvPr id="6" name="Text 2"/>
          <p:cNvSpPr/>
          <p:nvPr/>
        </p:nvSpPr>
        <p:spPr>
          <a:xfrm>
            <a:off x="428625" y="428625"/>
            <a:ext cx="2857500" cy="394692"/>
          </a:xfrm>
          <a:prstGeom prst="rect">
            <a:avLst/>
          </a:prstGeom>
          <a:noFill/>
          <a:ln/>
        </p:spPr>
        <p:txBody>
          <a:bodyPr wrap="square" lIns="0" tIns="0" rIns="0" bIns="0" rtlCol="0" anchor="t">
            <a:spAutoFit/>
          </a:bodyPr>
          <a:lstStyle/>
          <a:p>
            <a:pPr marL="0" indent="0" algn="l">
              <a:buNone/>
            </a:pPr>
            <a:r>
              <a:rPr lang="en-US" sz="2450" b="1" kern="0" spc="-1" dirty="0">
                <a:solidFill>
                  <a:srgbClr val="FDF0ED"/>
                </a:solidFill>
                <a:latin typeface="Segoe UI" pitchFamily="34" charset="0"/>
                <a:ea typeface="Segoe UI" pitchFamily="34" charset="-122"/>
                <a:cs typeface="Segoe UI" pitchFamily="34" charset="-120"/>
              </a:rPr>
              <a:t>OBJECTIVES</a:t>
            </a:r>
            <a:endParaRPr lang="en-US" sz="2450" dirty="0"/>
          </a:p>
        </p:txBody>
      </p:sp>
      <p:sp>
        <p:nvSpPr>
          <p:cNvPr id="7" name="Text 3"/>
          <p:cNvSpPr/>
          <p:nvPr/>
        </p:nvSpPr>
        <p:spPr>
          <a:xfrm>
            <a:off x="600075" y="1351955"/>
            <a:ext cx="2514600" cy="353943"/>
          </a:xfrm>
          <a:prstGeom prst="rect">
            <a:avLst/>
          </a:prstGeom>
          <a:noFill/>
          <a:ln/>
        </p:spPr>
        <p:txBody>
          <a:bodyPr wrap="square" lIns="0" tIns="0" rIns="0" bIns="0" rtlCol="0" anchor="t">
            <a:spAutoFit/>
          </a:bodyPr>
          <a:lstStyle/>
          <a:p>
            <a:r>
              <a:rPr sz="1150" dirty="0">
                <a:solidFill>
                  <a:srgbClr val="FDF0ED"/>
                </a:solidFill>
                <a:latin typeface="Segoe UI" pitchFamily="34" charset="0"/>
                <a:cs typeface="Segoe UI" pitchFamily="34" charset="-120"/>
              </a:rPr>
              <a:t>1. Which market should guide our 2026 reopening?</a:t>
            </a:r>
          </a:p>
        </p:txBody>
      </p:sp>
      <p:sp>
        <p:nvSpPr>
          <p:cNvPr id="8" name="Text 4"/>
          <p:cNvSpPr/>
          <p:nvPr/>
        </p:nvSpPr>
        <p:spPr>
          <a:xfrm>
            <a:off x="600075" y="2344936"/>
            <a:ext cx="2514600" cy="530915"/>
          </a:xfrm>
          <a:prstGeom prst="rect">
            <a:avLst/>
          </a:prstGeom>
          <a:noFill/>
          <a:ln/>
        </p:spPr>
        <p:txBody>
          <a:bodyPr wrap="square" lIns="0" tIns="0" rIns="0" bIns="0" rtlCol="0" anchor="t">
            <a:spAutoFit/>
          </a:bodyPr>
          <a:lstStyle/>
          <a:p>
            <a:r>
              <a:rPr sz="1150" dirty="0">
                <a:solidFill>
                  <a:srgbClr val="FDF0ED"/>
                </a:solidFill>
                <a:latin typeface="Segoe UI" pitchFamily="34" charset="0"/>
                <a:cs typeface="Segoe UI" pitchFamily="34" charset="-120"/>
              </a:rPr>
              <a:t>2. Which products, channels, and seasons should shape launch planning?</a:t>
            </a:r>
          </a:p>
        </p:txBody>
      </p:sp>
      <p:sp>
        <p:nvSpPr>
          <p:cNvPr id="9" name="Text 5"/>
          <p:cNvSpPr/>
          <p:nvPr/>
        </p:nvSpPr>
        <p:spPr>
          <a:xfrm>
            <a:off x="600075" y="3337917"/>
            <a:ext cx="2514600" cy="353943"/>
          </a:xfrm>
          <a:prstGeom prst="rect">
            <a:avLst/>
          </a:prstGeom>
          <a:noFill/>
          <a:ln/>
        </p:spPr>
        <p:txBody>
          <a:bodyPr wrap="square" lIns="0" tIns="0" rIns="0" bIns="0" rtlCol="0" anchor="t">
            <a:spAutoFit/>
          </a:bodyPr>
          <a:lstStyle/>
          <a:p>
            <a:r>
              <a:rPr sz="1150" dirty="0">
                <a:solidFill>
                  <a:srgbClr val="FDF0ED"/>
                </a:solidFill>
                <a:latin typeface="Segoe UI" pitchFamily="34" charset="0"/>
                <a:cs typeface="Segoe UI" pitchFamily="34" charset="-120"/>
              </a:rPr>
              <a:t>3. Which sales patterns should we replicate?</a:t>
            </a:r>
          </a:p>
        </p:txBody>
      </p:sp>
      <p:sp>
        <p:nvSpPr>
          <p:cNvPr id="10" name="Text 6"/>
          <p:cNvSpPr/>
          <p:nvPr/>
        </p:nvSpPr>
        <p:spPr>
          <a:xfrm>
            <a:off x="4000500" y="428625"/>
            <a:ext cx="4714875" cy="394692"/>
          </a:xfrm>
          <a:prstGeom prst="rect">
            <a:avLst/>
          </a:prstGeom>
          <a:noFill/>
          <a:ln/>
        </p:spPr>
        <p:txBody>
          <a:bodyPr wrap="square" lIns="0" tIns="0" rIns="0" bIns="0" rtlCol="0" anchor="t">
            <a:spAutoFit/>
          </a:bodyPr>
          <a:lstStyle/>
          <a:p>
            <a:pPr marL="0" indent="0" algn="l">
              <a:buNone/>
            </a:pPr>
            <a:r>
              <a:rPr lang="en-US" sz="2450" b="1" kern="0" spc="-1" dirty="0">
                <a:solidFill>
                  <a:srgbClr val="1A0B08"/>
                </a:solidFill>
                <a:latin typeface="Segoe UI" pitchFamily="34" charset="0"/>
                <a:ea typeface="Segoe UI" pitchFamily="34" charset="-122"/>
                <a:cs typeface="Segoe UI" pitchFamily="34" charset="-120"/>
              </a:rPr>
              <a:t>BUSINESS CASE</a:t>
            </a:r>
            <a:endParaRPr lang="en-US" sz="2450" dirty="0"/>
          </a:p>
        </p:txBody>
      </p:sp>
      <p:sp>
        <p:nvSpPr>
          <p:cNvPr id="11" name="Shape 7"/>
          <p:cNvSpPr/>
          <p:nvPr/>
        </p:nvSpPr>
        <p:spPr>
          <a:xfrm>
            <a:off x="4000500" y="1109067"/>
            <a:ext cx="4714875" cy="2331653"/>
          </a:xfrm>
          <a:prstGeom prst="rect">
            <a:avLst/>
          </a:prstGeom>
          <a:solidFill>
            <a:srgbClr val="FFFFFF"/>
          </a:solidFill>
          <a:ln w="54864">
            <a:solidFill>
              <a:srgbClr val="1A0B08"/>
            </a:solidFill>
            <a:prstDash val="solid"/>
          </a:ln>
        </p:spPr>
        <p:txBody>
          <a:bodyPr/>
          <a:lstStyle/>
          <a:p>
            <a:endParaRPr lang="es-ES"/>
          </a:p>
        </p:txBody>
      </p:sp>
      <p:sp>
        <p:nvSpPr>
          <p:cNvPr id="12" name="Text 8"/>
          <p:cNvSpPr/>
          <p:nvPr/>
        </p:nvSpPr>
        <p:spPr>
          <a:xfrm>
            <a:off x="4286250" y="1394817"/>
            <a:ext cx="4143375" cy="1456809"/>
          </a:xfrm>
          <a:prstGeom prst="rect">
            <a:avLst/>
          </a:prstGeom>
          <a:noFill/>
          <a:ln/>
        </p:spPr>
        <p:txBody>
          <a:bodyPr wrap="square" lIns="0" tIns="0" rIns="0" bIns="0" rtlCol="0" anchor="t">
            <a:spAutoFit/>
          </a:bodyPr>
          <a:lstStyle/>
          <a:p>
            <a:r>
              <a:rPr sz="1400">
                <a:solidFill>
                  <a:srgbClr val="333943"/>
                </a:solidFill>
              </a:rPr>
              <a:t>As Data Analysts, our mission is to use 2022-2023 chocolate sales data to guide our 2026 business reopening. We compare markets, products, channels, seasonality, and sales performance to decide where to focus next.</a:t>
            </a:r>
          </a:p>
        </p:txBody>
      </p:sp>
      <p:pic>
        <p:nvPicPr>
          <p:cNvPr id="13" name="Image 1" descr="preencoded.png"/>
          <p:cNvPicPr>
            <a:picLocks noChangeAspect="1"/>
          </p:cNvPicPr>
          <p:nvPr/>
        </p:nvPicPr>
        <p:blipFill>
          <a:blip r:embed="rId4"/>
          <a:stretch>
            <a:fillRect/>
          </a:stretch>
        </p:blipFill>
        <p:spPr>
          <a:xfrm>
            <a:off x="4000500" y="3577559"/>
            <a:ext cx="228600" cy="228600"/>
          </a:xfrm>
          <a:prstGeom prst="rect">
            <a:avLst/>
          </a:prstGeom>
        </p:spPr>
      </p:pic>
      <p:sp>
        <p:nvSpPr>
          <p:cNvPr id="14" name="Text 9"/>
          <p:cNvSpPr/>
          <p:nvPr/>
        </p:nvSpPr>
        <p:spPr>
          <a:xfrm>
            <a:off x="4336256" y="3625780"/>
            <a:ext cx="1416025" cy="132159"/>
          </a:xfrm>
          <a:prstGeom prst="rect">
            <a:avLst/>
          </a:prstGeom>
          <a:noFill/>
          <a:ln/>
        </p:spPr>
        <p:txBody>
          <a:bodyPr wrap="square" lIns="0" tIns="0" rIns="0" bIns="0" rtlCol="0" anchor="t">
            <a:spAutoFit/>
          </a:bodyPr>
          <a:lstStyle/>
          <a:p>
            <a:pPr marL="0" indent="0" algn="l">
              <a:buNone/>
            </a:pPr>
            <a:r>
              <a:rPr lang="en-US" sz="800" b="1" dirty="0">
                <a:solidFill>
                  <a:srgbClr val="000000"/>
                </a:solidFill>
                <a:latin typeface="Segoe UI" pitchFamily="34" charset="0"/>
                <a:ea typeface="Segoe UI" pitchFamily="34" charset="-122"/>
                <a:cs typeface="Segoe UI" pitchFamily="34" charset="-120"/>
              </a:rPr>
              <a:t>DATA-DRIVEN STRATEGY</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571500" y="428625"/>
            <a:ext cx="8001000" cy="444698"/>
          </a:xfrm>
          <a:prstGeom prst="rect">
            <a:avLst/>
          </a:prstGeom>
          <a:solidFill>
            <a:srgbClr val="000000">
              <a:alpha val="0"/>
            </a:srgbClr>
          </a:solidFill>
          <a:ln/>
        </p:spPr>
        <p:txBody>
          <a:bodyPr/>
          <a:lstStyle/>
          <a:p>
            <a:endParaRPr lang="es-ES"/>
          </a:p>
        </p:txBody>
      </p:sp>
      <p:sp>
        <p:nvSpPr>
          <p:cNvPr id="5" name="Shape 1"/>
          <p:cNvSpPr/>
          <p:nvPr/>
        </p:nvSpPr>
        <p:spPr>
          <a:xfrm>
            <a:off x="571500" y="428625"/>
            <a:ext cx="107156" cy="444698"/>
          </a:xfrm>
          <a:prstGeom prst="rect">
            <a:avLst/>
          </a:prstGeom>
          <a:solidFill>
            <a:srgbClr val="8B0000"/>
          </a:solidFill>
          <a:ln/>
        </p:spPr>
        <p:txBody>
          <a:bodyPr/>
          <a:lstStyle/>
          <a:p>
            <a:endParaRPr lang="es-ES"/>
          </a:p>
        </p:txBody>
      </p:sp>
      <p:sp>
        <p:nvSpPr>
          <p:cNvPr id="6" name="Text 2"/>
          <p:cNvSpPr/>
          <p:nvPr/>
        </p:nvSpPr>
        <p:spPr>
          <a:xfrm>
            <a:off x="571500" y="428625"/>
            <a:ext cx="8001000" cy="444698"/>
          </a:xfrm>
          <a:prstGeom prst="rect">
            <a:avLst/>
          </a:prstGeom>
          <a:noFill/>
          <a:ln/>
        </p:spPr>
        <p:txBody>
          <a:bodyPr wrap="square" lIns="170053" tIns="0" rIns="0" bIns="0" rtlCol="0" anchor="t">
            <a:spAutoFit/>
          </a:bodyPr>
          <a:lstStyle/>
          <a:p>
            <a:pPr marL="0" indent="0" algn="l">
              <a:buNone/>
            </a:pPr>
            <a:r>
              <a:rPr lang="en-US" sz="2750" b="1" dirty="0">
                <a:solidFill>
                  <a:srgbClr val="1A0B08"/>
                </a:solidFill>
                <a:latin typeface="Segoe UI" pitchFamily="34" charset="0"/>
                <a:ea typeface="Segoe UI" pitchFamily="34" charset="-122"/>
                <a:cs typeface="Segoe UI" pitchFamily="34" charset="-120"/>
              </a:rPr>
              <a:t>ETL PIPELINE &amp; PREPARATION</a:t>
            </a:r>
            <a:endParaRPr lang="en-US" sz="2750" dirty="0"/>
          </a:p>
        </p:txBody>
      </p:sp>
      <p:sp>
        <p:nvSpPr>
          <p:cNvPr id="7" name="Shape 3"/>
          <p:cNvSpPr/>
          <p:nvPr/>
        </p:nvSpPr>
        <p:spPr>
          <a:xfrm>
            <a:off x="571500" y="1159073"/>
            <a:ext cx="8001000" cy="2371725"/>
          </a:xfrm>
          <a:prstGeom prst="rect">
            <a:avLst/>
          </a:prstGeom>
          <a:solidFill>
            <a:srgbClr val="FFFFFF"/>
          </a:solidFill>
          <a:ln w="54864">
            <a:solidFill>
              <a:srgbClr val="1A0B08"/>
            </a:solidFill>
            <a:prstDash val="solid"/>
          </a:ln>
        </p:spPr>
        <p:txBody>
          <a:bodyPr/>
          <a:lstStyle/>
          <a:p>
            <a:endParaRPr lang="es-ES"/>
          </a:p>
        </p:txBody>
      </p:sp>
      <p:sp>
        <p:nvSpPr>
          <p:cNvPr id="8" name="Shape 4"/>
          <p:cNvSpPr/>
          <p:nvPr/>
        </p:nvSpPr>
        <p:spPr>
          <a:xfrm>
            <a:off x="585788" y="1159073"/>
            <a:ext cx="1823889" cy="567928"/>
          </a:xfrm>
          <a:prstGeom prst="rect">
            <a:avLst/>
          </a:prstGeom>
          <a:solidFill>
            <a:srgbClr val="1A0B08"/>
          </a:solidFill>
          <a:ln/>
        </p:spPr>
        <p:txBody>
          <a:bodyPr/>
          <a:lstStyle/>
          <a:p>
            <a:endParaRPr lang="es-ES"/>
          </a:p>
        </p:txBody>
      </p:sp>
      <p:sp>
        <p:nvSpPr>
          <p:cNvPr id="9" name="Text 5"/>
          <p:cNvSpPr/>
          <p:nvPr/>
        </p:nvSpPr>
        <p:spPr>
          <a:xfrm>
            <a:off x="585788" y="1159073"/>
            <a:ext cx="1823889" cy="567928"/>
          </a:xfrm>
          <a:prstGeom prst="rect">
            <a:avLst/>
          </a:prstGeom>
          <a:noFill/>
          <a:ln/>
        </p:spPr>
        <p:txBody>
          <a:bodyPr wrap="square" lIns="212598" tIns="212598" rIns="212598" bIns="212598" rtlCol="0" anchor="ctr">
            <a:spAutoFit/>
          </a:bodyPr>
          <a:lstStyle/>
          <a:p>
            <a:pPr marL="0" indent="0" algn="l">
              <a:buNone/>
            </a:pPr>
            <a:r>
              <a:rPr lang="en-US" sz="1200" b="1" dirty="0">
                <a:solidFill>
                  <a:srgbClr val="FDF0ED"/>
                </a:solidFill>
                <a:latin typeface="Segoe UI" pitchFamily="34" charset="0"/>
                <a:ea typeface="Segoe UI" pitchFamily="34" charset="-122"/>
                <a:cs typeface="Segoe UI" pitchFamily="34" charset="-120"/>
              </a:rPr>
              <a:t>STAGE</a:t>
            </a:r>
            <a:endParaRPr lang="en-US" sz="1200" dirty="0"/>
          </a:p>
        </p:txBody>
      </p:sp>
      <p:sp>
        <p:nvSpPr>
          <p:cNvPr id="10" name="Shape 6"/>
          <p:cNvSpPr/>
          <p:nvPr/>
        </p:nvSpPr>
        <p:spPr>
          <a:xfrm>
            <a:off x="2409676" y="1159073"/>
            <a:ext cx="2074143" cy="567928"/>
          </a:xfrm>
          <a:prstGeom prst="rect">
            <a:avLst/>
          </a:prstGeom>
          <a:solidFill>
            <a:srgbClr val="1A0B08"/>
          </a:solidFill>
          <a:ln/>
        </p:spPr>
        <p:txBody>
          <a:bodyPr/>
          <a:lstStyle/>
          <a:p>
            <a:endParaRPr lang="es-ES"/>
          </a:p>
        </p:txBody>
      </p:sp>
      <p:sp>
        <p:nvSpPr>
          <p:cNvPr id="11" name="Text 7"/>
          <p:cNvSpPr/>
          <p:nvPr/>
        </p:nvSpPr>
        <p:spPr>
          <a:xfrm>
            <a:off x="2409676" y="1159073"/>
            <a:ext cx="2074143" cy="567928"/>
          </a:xfrm>
          <a:prstGeom prst="rect">
            <a:avLst/>
          </a:prstGeom>
          <a:noFill/>
          <a:ln/>
        </p:spPr>
        <p:txBody>
          <a:bodyPr wrap="square" lIns="212598" tIns="212598" rIns="212598" bIns="212598" rtlCol="0" anchor="ctr">
            <a:spAutoFit/>
          </a:bodyPr>
          <a:lstStyle/>
          <a:p>
            <a:pPr marL="0" indent="0" algn="l">
              <a:buNone/>
            </a:pPr>
            <a:r>
              <a:rPr lang="en-US" sz="1200" b="1" dirty="0">
                <a:solidFill>
                  <a:srgbClr val="FDF0ED"/>
                </a:solidFill>
                <a:latin typeface="Segoe UI" pitchFamily="34" charset="0"/>
                <a:ea typeface="Segoe UI" pitchFamily="34" charset="-122"/>
                <a:cs typeface="Segoe UI" pitchFamily="34" charset="-120"/>
              </a:rPr>
              <a:t>TOOLS</a:t>
            </a:r>
            <a:endParaRPr lang="en-US" sz="1200" dirty="0"/>
          </a:p>
        </p:txBody>
      </p:sp>
      <p:sp>
        <p:nvSpPr>
          <p:cNvPr id="12" name="Shape 8"/>
          <p:cNvSpPr/>
          <p:nvPr/>
        </p:nvSpPr>
        <p:spPr>
          <a:xfrm>
            <a:off x="4483819" y="1159073"/>
            <a:ext cx="4074393" cy="567928"/>
          </a:xfrm>
          <a:prstGeom prst="rect">
            <a:avLst/>
          </a:prstGeom>
          <a:solidFill>
            <a:srgbClr val="1A0B08"/>
          </a:solidFill>
          <a:ln/>
        </p:spPr>
        <p:txBody>
          <a:bodyPr/>
          <a:lstStyle/>
          <a:p>
            <a:endParaRPr lang="es-ES"/>
          </a:p>
        </p:txBody>
      </p:sp>
      <p:sp>
        <p:nvSpPr>
          <p:cNvPr id="13" name="Text 9"/>
          <p:cNvSpPr/>
          <p:nvPr/>
        </p:nvSpPr>
        <p:spPr>
          <a:xfrm>
            <a:off x="4483819" y="1159073"/>
            <a:ext cx="4074393" cy="567928"/>
          </a:xfrm>
          <a:prstGeom prst="rect">
            <a:avLst/>
          </a:prstGeom>
          <a:noFill/>
          <a:ln/>
        </p:spPr>
        <p:txBody>
          <a:bodyPr wrap="square" lIns="212598" tIns="212598" rIns="212598" bIns="212598" rtlCol="0" anchor="ctr">
            <a:spAutoFit/>
          </a:bodyPr>
          <a:lstStyle/>
          <a:p>
            <a:pPr marL="0" indent="0" algn="l">
              <a:buNone/>
            </a:pPr>
            <a:r>
              <a:rPr lang="en-US" sz="1200" b="1" dirty="0">
                <a:solidFill>
                  <a:srgbClr val="FDF0ED"/>
                </a:solidFill>
                <a:latin typeface="Segoe UI" pitchFamily="34" charset="0"/>
                <a:ea typeface="Segoe UI" pitchFamily="34" charset="-122"/>
                <a:cs typeface="Segoe UI" pitchFamily="34" charset="-120"/>
              </a:rPr>
              <a:t>RESULT</a:t>
            </a:r>
            <a:endParaRPr lang="en-US" sz="1200" dirty="0"/>
          </a:p>
        </p:txBody>
      </p:sp>
      <p:sp>
        <p:nvSpPr>
          <p:cNvPr id="14" name="Text 10"/>
          <p:cNvSpPr/>
          <p:nvPr/>
        </p:nvSpPr>
        <p:spPr>
          <a:xfrm>
            <a:off x="778669" y="1921669"/>
            <a:ext cx="461665" cy="169277"/>
          </a:xfrm>
          <a:prstGeom prst="rect">
            <a:avLst/>
          </a:prstGeom>
          <a:noFill/>
          <a:ln/>
        </p:spPr>
        <p:txBody>
          <a:bodyPr wrap="none" lIns="0" tIns="0" rIns="0" bIns="0" rtlCol="0" anchor="t">
            <a:spAutoFit/>
          </a:bodyPr>
          <a:lstStyle/>
          <a:p>
            <a:r>
              <a:rPr sz="1100" b="1">
                <a:solidFill>
                  <a:srgbClr val="8B0000"/>
                </a:solidFill>
                <a:latin typeface="Segoe UI" pitchFamily="34" charset="0"/>
                <a:cs typeface="Segoe UI" pitchFamily="34" charset="-120"/>
              </a:rPr>
              <a:t>Extract</a:t>
            </a:r>
          </a:p>
        </p:txBody>
      </p:sp>
      <p:sp>
        <p:nvSpPr>
          <p:cNvPr id="15" name="Text 11"/>
          <p:cNvSpPr/>
          <p:nvPr/>
        </p:nvSpPr>
        <p:spPr>
          <a:xfrm>
            <a:off x="2409676" y="1707806"/>
            <a:ext cx="2074143" cy="606320"/>
          </a:xfrm>
          <a:prstGeom prst="rect">
            <a:avLst/>
          </a:prstGeom>
          <a:noFill/>
          <a:ln/>
        </p:spPr>
        <p:txBody>
          <a:bodyPr wrap="square" lIns="212598" tIns="212598" rIns="212598" bIns="212598" rtlCol="0" anchor="ctr">
            <a:spAutoFit/>
          </a:bodyPr>
          <a:lstStyle/>
          <a:p>
            <a:r>
              <a:rPr sz="1150" dirty="0">
                <a:solidFill>
                  <a:srgbClr val="2F3640"/>
                </a:solidFill>
                <a:latin typeface="Segoe UI" pitchFamily="34" charset="0"/>
                <a:cs typeface="Segoe UI" pitchFamily="34" charset="-120"/>
              </a:rPr>
              <a:t>Python / CSV</a:t>
            </a:r>
          </a:p>
        </p:txBody>
      </p:sp>
      <p:sp>
        <p:nvSpPr>
          <p:cNvPr id="16" name="Text 12"/>
          <p:cNvSpPr/>
          <p:nvPr/>
        </p:nvSpPr>
        <p:spPr>
          <a:xfrm>
            <a:off x="4483819" y="1707806"/>
            <a:ext cx="4074393" cy="606320"/>
          </a:xfrm>
          <a:prstGeom prst="rect">
            <a:avLst/>
          </a:prstGeom>
          <a:noFill/>
          <a:ln/>
        </p:spPr>
        <p:txBody>
          <a:bodyPr wrap="square" lIns="212598" tIns="212598" rIns="212598" bIns="212598" rtlCol="0" anchor="ctr">
            <a:spAutoFit/>
          </a:bodyPr>
          <a:lstStyle/>
          <a:p>
            <a:r>
              <a:rPr sz="1150" dirty="0">
                <a:solidFill>
                  <a:srgbClr val="2F3640"/>
                </a:solidFill>
                <a:latin typeface="Segoe UI" pitchFamily="34" charset="0"/>
                <a:cs typeface="Segoe UI" pitchFamily="34" charset="-120"/>
              </a:rPr>
              <a:t>Kaggle chocolate sales dataset</a:t>
            </a:r>
          </a:p>
        </p:txBody>
      </p:sp>
      <p:sp>
        <p:nvSpPr>
          <p:cNvPr id="17" name="Text 13"/>
          <p:cNvSpPr/>
          <p:nvPr/>
        </p:nvSpPr>
        <p:spPr>
          <a:xfrm>
            <a:off x="778669" y="2489597"/>
            <a:ext cx="1143977" cy="176808"/>
          </a:xfrm>
          <a:prstGeom prst="rect">
            <a:avLst/>
          </a:prstGeom>
          <a:noFill/>
          <a:ln/>
        </p:spPr>
        <p:txBody>
          <a:bodyPr wrap="none" lIns="0" tIns="0" rIns="0" bIns="0" rtlCol="0" anchor="t">
            <a:spAutoFit/>
          </a:bodyPr>
          <a:lstStyle/>
          <a:p>
            <a:pPr marL="0" indent="0" algn="l">
              <a:buNone/>
            </a:pPr>
            <a:r>
              <a:rPr lang="en-US" sz="1100" b="1" dirty="0">
                <a:solidFill>
                  <a:srgbClr val="8B0000"/>
                </a:solidFill>
                <a:latin typeface="Segoe UI" pitchFamily="34" charset="0"/>
                <a:ea typeface="Segoe UI" pitchFamily="34" charset="-122"/>
                <a:cs typeface="Segoe UI" pitchFamily="34" charset="-120"/>
              </a:rPr>
              <a:t>Transformation</a:t>
            </a:r>
            <a:endParaRPr lang="en-US" sz="1100" dirty="0"/>
          </a:p>
        </p:txBody>
      </p:sp>
      <p:sp>
        <p:nvSpPr>
          <p:cNvPr id="18" name="Text 14"/>
          <p:cNvSpPr/>
          <p:nvPr/>
        </p:nvSpPr>
        <p:spPr>
          <a:xfrm>
            <a:off x="2409676" y="2294930"/>
            <a:ext cx="2074143" cy="567928"/>
          </a:xfrm>
          <a:prstGeom prst="rect">
            <a:avLst/>
          </a:prstGeom>
          <a:noFill/>
          <a:ln/>
        </p:spPr>
        <p:txBody>
          <a:bodyPr wrap="square" lIns="212598" tIns="212598" rIns="212598" bIns="212598" rtlCol="0" anchor="ctr">
            <a:spAutoFit/>
          </a:bodyPr>
          <a:lstStyle/>
          <a:p>
            <a:pPr marL="0" indent="0" algn="l">
              <a:buNone/>
            </a:pPr>
            <a:r>
              <a:rPr lang="en-US" sz="1150" dirty="0">
                <a:solidFill>
                  <a:srgbClr val="2F3640"/>
                </a:solidFill>
                <a:latin typeface="Segoe UI" pitchFamily="34" charset="0"/>
                <a:ea typeface="Segoe UI" pitchFamily="34" charset="-122"/>
                <a:cs typeface="Segoe UI" pitchFamily="34" charset="-120"/>
              </a:rPr>
              <a:t>Python (Pandas)</a:t>
            </a:r>
            <a:endParaRPr lang="en-US" sz="1150" dirty="0"/>
          </a:p>
        </p:txBody>
      </p:sp>
      <p:sp>
        <p:nvSpPr>
          <p:cNvPr id="19" name="Text 15"/>
          <p:cNvSpPr/>
          <p:nvPr/>
        </p:nvSpPr>
        <p:spPr>
          <a:xfrm>
            <a:off x="4483819" y="2294930"/>
            <a:ext cx="4074393" cy="567928"/>
          </a:xfrm>
          <a:prstGeom prst="rect">
            <a:avLst/>
          </a:prstGeom>
          <a:noFill/>
          <a:ln/>
        </p:spPr>
        <p:txBody>
          <a:bodyPr wrap="square" lIns="212598" tIns="212598" rIns="212598" bIns="212598" rtlCol="0" anchor="ctr">
            <a:spAutoFit/>
          </a:bodyPr>
          <a:lstStyle/>
          <a:p>
            <a:pPr marL="0" indent="0" algn="l">
              <a:buNone/>
            </a:pPr>
            <a:r>
              <a:rPr lang="en-US" sz="1150" dirty="0">
                <a:solidFill>
                  <a:srgbClr val="2F3640"/>
                </a:solidFill>
                <a:latin typeface="Segoe UI" pitchFamily="34" charset="0"/>
                <a:ea typeface="Segoe UI" pitchFamily="34" charset="-122"/>
                <a:cs typeface="Segoe UI" pitchFamily="34" charset="-120"/>
              </a:rPr>
              <a:t>Cleaning, date typing, and normalization</a:t>
            </a:r>
            <a:endParaRPr lang="en-US" sz="1150" dirty="0"/>
          </a:p>
        </p:txBody>
      </p:sp>
      <p:sp>
        <p:nvSpPr>
          <p:cNvPr id="20" name="Text 16"/>
          <p:cNvSpPr/>
          <p:nvPr/>
        </p:nvSpPr>
        <p:spPr>
          <a:xfrm>
            <a:off x="778669" y="3057525"/>
            <a:ext cx="611098" cy="176808"/>
          </a:xfrm>
          <a:prstGeom prst="rect">
            <a:avLst/>
          </a:prstGeom>
          <a:noFill/>
          <a:ln/>
        </p:spPr>
        <p:txBody>
          <a:bodyPr wrap="none" lIns="0" tIns="0" rIns="0" bIns="0" rtlCol="0" anchor="t">
            <a:spAutoFit/>
          </a:bodyPr>
          <a:lstStyle/>
          <a:p>
            <a:pPr marL="0" indent="0" algn="l">
              <a:buNone/>
            </a:pPr>
            <a:r>
              <a:rPr lang="en-US" sz="1100" b="1" dirty="0">
                <a:solidFill>
                  <a:srgbClr val="8B0000"/>
                </a:solidFill>
                <a:latin typeface="Segoe UI" pitchFamily="34" charset="0"/>
                <a:ea typeface="Segoe UI" pitchFamily="34" charset="-122"/>
                <a:cs typeface="Segoe UI" pitchFamily="34" charset="-120"/>
              </a:rPr>
              <a:t>Loading</a:t>
            </a:r>
            <a:endParaRPr lang="en-US" sz="1100" dirty="0"/>
          </a:p>
        </p:txBody>
      </p:sp>
      <p:sp>
        <p:nvSpPr>
          <p:cNvPr id="21" name="Text 17"/>
          <p:cNvSpPr/>
          <p:nvPr/>
        </p:nvSpPr>
        <p:spPr>
          <a:xfrm>
            <a:off x="2409676" y="2862858"/>
            <a:ext cx="2074143" cy="567928"/>
          </a:xfrm>
          <a:prstGeom prst="rect">
            <a:avLst/>
          </a:prstGeom>
          <a:noFill/>
          <a:ln/>
        </p:spPr>
        <p:txBody>
          <a:bodyPr wrap="square" lIns="212598" tIns="212598" rIns="212598" bIns="212598" rtlCol="0" anchor="ctr">
            <a:spAutoFit/>
          </a:bodyPr>
          <a:lstStyle/>
          <a:p>
            <a:pPr marL="0" indent="0" algn="l">
              <a:buNone/>
            </a:pPr>
            <a:r>
              <a:rPr lang="en-US" sz="1150" dirty="0">
                <a:solidFill>
                  <a:srgbClr val="2F3640"/>
                </a:solidFill>
                <a:latin typeface="Segoe UI" pitchFamily="34" charset="0"/>
                <a:ea typeface="Segoe UI" pitchFamily="34" charset="-122"/>
                <a:cs typeface="Segoe UI" pitchFamily="34" charset="-120"/>
              </a:rPr>
              <a:t>MySQL Workbench</a:t>
            </a:r>
            <a:endParaRPr lang="en-US" sz="1150" dirty="0"/>
          </a:p>
        </p:txBody>
      </p:sp>
      <p:sp>
        <p:nvSpPr>
          <p:cNvPr id="22" name="Text 18"/>
          <p:cNvSpPr/>
          <p:nvPr/>
        </p:nvSpPr>
        <p:spPr>
          <a:xfrm>
            <a:off x="4483819" y="2843662"/>
            <a:ext cx="4074393" cy="606320"/>
          </a:xfrm>
          <a:prstGeom prst="rect">
            <a:avLst/>
          </a:prstGeom>
          <a:noFill/>
          <a:ln/>
        </p:spPr>
        <p:txBody>
          <a:bodyPr wrap="square" lIns="212598" tIns="212598" rIns="212598" bIns="212598" rtlCol="0" anchor="ctr">
            <a:spAutoFit/>
          </a:bodyPr>
          <a:lstStyle/>
          <a:p>
            <a:r>
              <a:rPr sz="1150" dirty="0">
                <a:solidFill>
                  <a:srgbClr val="2F3640"/>
                </a:solidFill>
                <a:latin typeface="Segoe UI" pitchFamily="34" charset="0"/>
                <a:cs typeface="Segoe UI" pitchFamily="34" charset="-120"/>
              </a:rPr>
              <a:t>MySQL relational database</a:t>
            </a:r>
          </a:p>
        </p:txBody>
      </p:sp>
      <p:sp>
        <p:nvSpPr>
          <p:cNvPr id="23" name="Shape 19"/>
          <p:cNvSpPr/>
          <p:nvPr/>
        </p:nvSpPr>
        <p:spPr>
          <a:xfrm>
            <a:off x="571500" y="3730823"/>
            <a:ext cx="4718036" cy="625078"/>
          </a:xfrm>
          <a:prstGeom prst="rect">
            <a:avLst/>
          </a:prstGeom>
          <a:solidFill>
            <a:srgbClr val="8B0000"/>
          </a:solidFill>
          <a:ln/>
        </p:spPr>
        <p:txBody>
          <a:bodyPr/>
          <a:lstStyle/>
          <a:p>
            <a:endParaRPr lang="es-ES"/>
          </a:p>
        </p:txBody>
      </p:sp>
      <p:pic>
        <p:nvPicPr>
          <p:cNvPr id="24" name="Image 1" descr="preencoded.png"/>
          <p:cNvPicPr>
            <a:picLocks noChangeAspect="1"/>
          </p:cNvPicPr>
          <p:nvPr/>
        </p:nvPicPr>
        <p:blipFill>
          <a:blip r:embed="rId4"/>
          <a:stretch>
            <a:fillRect/>
          </a:stretch>
        </p:blipFill>
        <p:spPr>
          <a:xfrm>
            <a:off x="674600" y="3950494"/>
            <a:ext cx="150019" cy="171450"/>
          </a:xfrm>
          <a:prstGeom prst="rect">
            <a:avLst/>
          </a:prstGeom>
        </p:spPr>
      </p:pic>
      <p:sp>
        <p:nvSpPr>
          <p:cNvPr id="25" name="Text 20"/>
          <p:cNvSpPr/>
          <p:nvPr/>
        </p:nvSpPr>
        <p:spPr>
          <a:xfrm>
            <a:off x="849332" y="3946921"/>
            <a:ext cx="4440204" cy="184666"/>
          </a:xfrm>
          <a:prstGeom prst="rect">
            <a:avLst/>
          </a:prstGeom>
          <a:noFill/>
          <a:ln/>
        </p:spPr>
        <p:txBody>
          <a:bodyPr wrap="square" lIns="0" tIns="0" rIns="0" bIns="0" rtlCol="0" anchor="t">
            <a:spAutoFit/>
          </a:bodyPr>
          <a:lstStyle/>
          <a:p>
            <a:r>
              <a:rPr sz="1200" b="1" dirty="0">
                <a:solidFill>
                  <a:srgbClr val="FDF0ED"/>
                </a:solidFill>
                <a:latin typeface="Segoe UI" pitchFamily="34" charset="0"/>
                <a:cs typeface="Segoe UI" pitchFamily="34" charset="-120"/>
              </a:rPr>
              <a:t>199,563 clean invoice rows loaded with referential integrity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44698"/>
          </a:xfrm>
          <a:prstGeom prst="rect">
            <a:avLst/>
          </a:prstGeom>
          <a:noFill/>
          <a:ln/>
        </p:spPr>
        <p:txBody>
          <a:bodyPr wrap="square" lIns="0" tIns="0" rIns="0" bIns="0" rtlCol="0" anchor="t">
            <a:spAutoFit/>
          </a:bodyPr>
          <a:lstStyle/>
          <a:p>
            <a:pPr marL="0" indent="0" algn="l">
              <a:buNone/>
            </a:pPr>
            <a:r>
              <a:rPr lang="en-US" sz="2750" b="1" kern="0" spc="-1" dirty="0">
                <a:solidFill>
                  <a:srgbClr val="1A0B08"/>
                </a:solidFill>
                <a:latin typeface="Segoe UI" pitchFamily="34" charset="0"/>
                <a:ea typeface="Segoe UI" pitchFamily="34" charset="-122"/>
                <a:cs typeface="Segoe UI" pitchFamily="34" charset="-120"/>
              </a:rPr>
              <a:t>RELATIONAL ARCHITECTURE (ERD)</a:t>
            </a:r>
            <a:endParaRPr lang="en-US" sz="2750" dirty="0"/>
          </a:p>
        </p:txBody>
      </p:sp>
      <p:sp>
        <p:nvSpPr>
          <p:cNvPr id="5" name="Shape 1"/>
          <p:cNvSpPr/>
          <p:nvPr/>
        </p:nvSpPr>
        <p:spPr>
          <a:xfrm>
            <a:off x="571500" y="1087636"/>
            <a:ext cx="4286250" cy="3214688"/>
          </a:xfrm>
          <a:prstGeom prst="rect">
            <a:avLst/>
          </a:prstGeom>
          <a:solidFill>
            <a:srgbClr val="FFFFFF"/>
          </a:solidFill>
          <a:ln w="54864">
            <a:solidFill>
              <a:srgbClr val="1A0B08"/>
            </a:solidFill>
            <a:prstDash val="solid"/>
          </a:ln>
        </p:spPr>
        <p:txBody>
          <a:bodyPr/>
          <a:lstStyle/>
          <a:p>
            <a:endParaRPr lang="es-ES"/>
          </a:p>
        </p:txBody>
      </p:sp>
      <p:sp>
        <p:nvSpPr>
          <p:cNvPr id="7" name="Shape 2"/>
          <p:cNvSpPr/>
          <p:nvPr/>
        </p:nvSpPr>
        <p:spPr>
          <a:xfrm>
            <a:off x="5143500" y="1087636"/>
            <a:ext cx="3429000" cy="928688"/>
          </a:xfrm>
          <a:prstGeom prst="rect">
            <a:avLst/>
          </a:prstGeom>
          <a:solidFill>
            <a:srgbClr val="8B0000"/>
          </a:solidFill>
          <a:ln w="27432">
            <a:solidFill>
              <a:srgbClr val="1A0B08"/>
            </a:solidFill>
            <a:prstDash val="solid"/>
          </a:ln>
        </p:spPr>
        <p:txBody>
          <a:bodyPr/>
          <a:lstStyle/>
          <a:p>
            <a:endParaRPr lang="es-ES"/>
          </a:p>
        </p:txBody>
      </p:sp>
      <p:sp>
        <p:nvSpPr>
          <p:cNvPr id="8" name="Text 3"/>
          <p:cNvSpPr/>
          <p:nvPr/>
        </p:nvSpPr>
        <p:spPr>
          <a:xfrm>
            <a:off x="5322094" y="1230511"/>
            <a:ext cx="3071813" cy="189988"/>
          </a:xfrm>
          <a:prstGeom prst="rect">
            <a:avLst/>
          </a:prstGeom>
          <a:noFill/>
          <a:ln/>
        </p:spPr>
        <p:txBody>
          <a:bodyPr wrap="square" lIns="0" tIns="0" rIns="0" bIns="0" rtlCol="0" anchor="t">
            <a:spAutoFit/>
          </a:bodyPr>
          <a:lstStyle/>
          <a:p>
            <a:pPr>
              <a:lnSpc>
                <a:spcPct val="112000"/>
              </a:lnSpc>
            </a:pPr>
            <a:r>
              <a:rPr sz="1200" b="1" dirty="0">
                <a:solidFill>
                  <a:srgbClr val="FDF0ED"/>
                </a:solidFill>
                <a:latin typeface="Segoe UI" pitchFamily="34" charset="0"/>
                <a:cs typeface="Segoe UI" pitchFamily="34" charset="-120"/>
              </a:rPr>
              <a:t>TABLE: INVOICES</a:t>
            </a:r>
          </a:p>
        </p:txBody>
      </p:sp>
      <p:sp>
        <p:nvSpPr>
          <p:cNvPr id="9" name="Text 4"/>
          <p:cNvSpPr/>
          <p:nvPr/>
        </p:nvSpPr>
        <p:spPr>
          <a:xfrm>
            <a:off x="5322094" y="1498402"/>
            <a:ext cx="3071813" cy="314189"/>
          </a:xfrm>
          <a:prstGeom prst="rect">
            <a:avLst/>
          </a:prstGeom>
          <a:noFill/>
          <a:ln/>
        </p:spPr>
        <p:txBody>
          <a:bodyPr wrap="square" lIns="0" tIns="0" rIns="0" bIns="0" rtlCol="0" anchor="t">
            <a:spAutoFit/>
          </a:bodyPr>
          <a:lstStyle/>
          <a:p>
            <a:pPr>
              <a:lnSpc>
                <a:spcPct val="112000"/>
              </a:lnSpc>
            </a:pPr>
            <a:r>
              <a:rPr sz="950" dirty="0">
                <a:solidFill>
                  <a:srgbClr val="FDF0ED"/>
                </a:solidFill>
                <a:latin typeface="Segoe UI" pitchFamily="34" charset="0"/>
                <a:cs typeface="Segoe UI" pitchFamily="34" charset="-120"/>
              </a:rPr>
              <a:t>Central fact table containing 199,563 clean invoices with product and salesperson foreign keys.</a:t>
            </a:r>
          </a:p>
        </p:txBody>
      </p:sp>
      <p:sp>
        <p:nvSpPr>
          <p:cNvPr id="10" name="Shape 5"/>
          <p:cNvSpPr/>
          <p:nvPr/>
        </p:nvSpPr>
        <p:spPr>
          <a:xfrm>
            <a:off x="5143500" y="2159198"/>
            <a:ext cx="3429000" cy="928688"/>
          </a:xfrm>
          <a:prstGeom prst="rect">
            <a:avLst/>
          </a:prstGeom>
          <a:solidFill>
            <a:srgbClr val="8B0000"/>
          </a:solidFill>
          <a:ln w="27432">
            <a:solidFill>
              <a:srgbClr val="1A0B08"/>
            </a:solidFill>
            <a:prstDash val="solid"/>
          </a:ln>
        </p:spPr>
        <p:txBody>
          <a:bodyPr/>
          <a:lstStyle/>
          <a:p>
            <a:endParaRPr lang="es-ES"/>
          </a:p>
        </p:txBody>
      </p:sp>
      <p:sp>
        <p:nvSpPr>
          <p:cNvPr id="11" name="Text 6"/>
          <p:cNvSpPr/>
          <p:nvPr/>
        </p:nvSpPr>
        <p:spPr>
          <a:xfrm>
            <a:off x="5322094" y="2302073"/>
            <a:ext cx="3071813" cy="196453"/>
          </a:xfrm>
          <a:prstGeom prst="rect">
            <a:avLst/>
          </a:prstGeom>
          <a:noFill/>
          <a:ln/>
        </p:spPr>
        <p:txBody>
          <a:bodyPr wrap="square" lIns="0" tIns="0" rIns="0" bIns="0" rtlCol="0" anchor="t">
            <a:spAutoFit/>
          </a:bodyPr>
          <a:lstStyle/>
          <a:p>
            <a:pPr marL="0" indent="0" algn="l">
              <a:buNone/>
            </a:pPr>
            <a:r>
              <a:rPr lang="en-US" sz="1200" b="1" dirty="0">
                <a:solidFill>
                  <a:srgbClr val="FDF0ED"/>
                </a:solidFill>
                <a:latin typeface="Segoe UI" pitchFamily="34" charset="0"/>
                <a:ea typeface="Segoe UI" pitchFamily="34" charset="-122"/>
                <a:cs typeface="Segoe UI" pitchFamily="34" charset="-120"/>
              </a:rPr>
              <a:t>TABLE: PRODUCTS</a:t>
            </a:r>
            <a:endParaRPr lang="en-US" sz="1200" dirty="0"/>
          </a:p>
        </p:txBody>
      </p:sp>
      <p:sp>
        <p:nvSpPr>
          <p:cNvPr id="12" name="Text 7"/>
          <p:cNvSpPr/>
          <p:nvPr/>
        </p:nvSpPr>
        <p:spPr>
          <a:xfrm>
            <a:off x="5322094" y="2569964"/>
            <a:ext cx="3071813" cy="360034"/>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FDF0ED"/>
                </a:solidFill>
                <a:latin typeface="Segoe UI" pitchFamily="34" charset="0"/>
                <a:ea typeface="Segoe UI" pitchFamily="34" charset="-122"/>
                <a:cs typeface="Segoe UI" pitchFamily="34" charset="-120"/>
              </a:rPr>
              <a:t>Catalog dimension: Product_ID, Product Name, and Unit Price per Box.</a:t>
            </a:r>
            <a:endParaRPr lang="en-US" sz="950" dirty="0"/>
          </a:p>
        </p:txBody>
      </p:sp>
      <p:sp>
        <p:nvSpPr>
          <p:cNvPr id="13" name="Shape 8"/>
          <p:cNvSpPr/>
          <p:nvPr/>
        </p:nvSpPr>
        <p:spPr>
          <a:xfrm>
            <a:off x="5143500" y="3230761"/>
            <a:ext cx="3429000" cy="928688"/>
          </a:xfrm>
          <a:prstGeom prst="rect">
            <a:avLst/>
          </a:prstGeom>
          <a:solidFill>
            <a:srgbClr val="8B0000"/>
          </a:solidFill>
          <a:ln w="27432">
            <a:solidFill>
              <a:srgbClr val="1A0B08"/>
            </a:solidFill>
            <a:prstDash val="solid"/>
          </a:ln>
        </p:spPr>
        <p:txBody>
          <a:bodyPr/>
          <a:lstStyle/>
          <a:p>
            <a:endParaRPr lang="es-ES"/>
          </a:p>
        </p:txBody>
      </p:sp>
      <p:sp>
        <p:nvSpPr>
          <p:cNvPr id="14" name="Text 9"/>
          <p:cNvSpPr/>
          <p:nvPr/>
        </p:nvSpPr>
        <p:spPr>
          <a:xfrm>
            <a:off x="5322094" y="3373636"/>
            <a:ext cx="3071813" cy="196453"/>
          </a:xfrm>
          <a:prstGeom prst="rect">
            <a:avLst/>
          </a:prstGeom>
          <a:noFill/>
          <a:ln/>
        </p:spPr>
        <p:txBody>
          <a:bodyPr wrap="square" lIns="0" tIns="0" rIns="0" bIns="0" rtlCol="0" anchor="t">
            <a:spAutoFit/>
          </a:bodyPr>
          <a:lstStyle/>
          <a:p>
            <a:pPr marL="0" indent="0" algn="l">
              <a:buNone/>
            </a:pPr>
            <a:r>
              <a:rPr lang="en-US" sz="1200" b="1" dirty="0">
                <a:solidFill>
                  <a:srgbClr val="FDF0ED"/>
                </a:solidFill>
                <a:latin typeface="Segoe UI" pitchFamily="34" charset="0"/>
                <a:ea typeface="Segoe UI" pitchFamily="34" charset="-122"/>
                <a:cs typeface="Segoe UI" pitchFamily="34" charset="-120"/>
              </a:rPr>
              <a:t>TABLE: SALESPERSONS</a:t>
            </a:r>
            <a:endParaRPr lang="en-US" sz="1200" dirty="0"/>
          </a:p>
        </p:txBody>
      </p:sp>
      <p:sp>
        <p:nvSpPr>
          <p:cNvPr id="15" name="Text 10"/>
          <p:cNvSpPr/>
          <p:nvPr/>
        </p:nvSpPr>
        <p:spPr>
          <a:xfrm>
            <a:off x="5322094" y="3641527"/>
            <a:ext cx="3071813" cy="360034"/>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FDF0ED"/>
                </a:solidFill>
                <a:latin typeface="Segoe UI" pitchFamily="34" charset="0"/>
                <a:ea typeface="Segoe UI" pitchFamily="34" charset="-122"/>
                <a:cs typeface="Segoe UI" pitchFamily="34" charset="-120"/>
              </a:rPr>
              <a:t>Team dimension: Unique identifiers for tracking individual sales performance.</a:t>
            </a:r>
            <a:endParaRPr lang="en-US" sz="950" dirty="0"/>
          </a:p>
        </p:txBody>
      </p:sp>
      <p:sp>
        <p:nvSpPr>
          <p:cNvPr id="16" name="Text 11"/>
          <p:cNvSpPr/>
          <p:nvPr/>
        </p:nvSpPr>
        <p:spPr>
          <a:xfrm>
            <a:off x="5143500" y="4373761"/>
            <a:ext cx="3429000" cy="328613"/>
          </a:xfrm>
          <a:prstGeom prst="rect">
            <a:avLst/>
          </a:prstGeom>
          <a:noFill/>
          <a:ln/>
        </p:spPr>
        <p:txBody>
          <a:bodyPr wrap="square" lIns="170053" tIns="0" rIns="0" bIns="0" rtlCol="0" anchor="t">
            <a:spAutoFit/>
          </a:bodyPr>
          <a:lstStyle/>
          <a:p>
            <a:pPr marL="0" indent="0" algn="l">
              <a:buNone/>
            </a:pPr>
            <a:r>
              <a:rPr lang="en-US" sz="1050" i="1" dirty="0">
                <a:solidFill>
                  <a:srgbClr val="2F3640"/>
                </a:solidFill>
                <a:latin typeface="Segoe UI" pitchFamily="34" charset="0"/>
                <a:ea typeface="Segoe UI" pitchFamily="34" charset="-122"/>
                <a:cs typeface="Segoe UI" pitchFamily="34" charset="-120"/>
              </a:rPr>
              <a:t>"Referential integrity ensures no orphan sales, securing the reliability of our strategic KPIs."</a:t>
            </a:r>
            <a:endParaRPr lang="en-US" sz="1050" dirty="0"/>
          </a:p>
        </p:txBody>
      </p:sp>
      <p:pic>
        <p:nvPicPr>
          <p:cNvPr id="17" name="Picture 16">
            <a:extLst>
              <a:ext uri="{FF2B5EF4-FFF2-40B4-BE49-F238E27FC236}">
                <a16:creationId xmlns:a16="http://schemas.microsoft.com/office/drawing/2014/main" id="{C475D43E-C091-D6E8-1C3C-9C54FDA2EECE}"/>
              </a:ext>
            </a:extLst>
          </p:cNvPr>
          <p:cNvPicPr>
            <a:picLocks noChangeAspect="1"/>
          </p:cNvPicPr>
          <p:nvPr/>
        </p:nvPicPr>
        <p:blipFill rotWithShape="1">
          <a:blip r:embed="rId4"/>
          <a:srcRect t="7833" b="6235"/>
          <a:stretch>
            <a:fillRect/>
          </a:stretch>
        </p:blipFill>
        <p:spPr>
          <a:xfrm>
            <a:off x="675119" y="1418484"/>
            <a:ext cx="4140712" cy="24030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58457"/>
          </a:xfrm>
          <a:prstGeom prst="rect">
            <a:avLst/>
          </a:prstGeom>
        </p:spPr>
      </p:pic>
      <p:sp>
        <p:nvSpPr>
          <p:cNvPr id="4" name="Text 0"/>
          <p:cNvSpPr/>
          <p:nvPr/>
        </p:nvSpPr>
        <p:spPr>
          <a:xfrm>
            <a:off x="428625" y="428625"/>
            <a:ext cx="4929188" cy="789384"/>
          </a:xfrm>
          <a:prstGeom prst="rect">
            <a:avLst/>
          </a:prstGeom>
          <a:noFill/>
          <a:ln/>
        </p:spPr>
        <p:txBody>
          <a:bodyPr wrap="square" lIns="0" tIns="0" rIns="0" bIns="0" rtlCol="0" anchor="t">
            <a:spAutoFit/>
          </a:bodyPr>
          <a:lstStyle/>
          <a:p>
            <a:r>
              <a:t>AUSTRALIA: REVENUE LEADER</a:t>
            </a:r>
          </a:p>
        </p:txBody>
      </p:sp>
      <p:sp>
        <p:nvSpPr>
          <p:cNvPr id="5" name="Shape 1"/>
          <p:cNvSpPr/>
          <p:nvPr/>
        </p:nvSpPr>
        <p:spPr>
          <a:xfrm>
            <a:off x="428625" y="1432322"/>
            <a:ext cx="4643438" cy="2857500"/>
          </a:xfrm>
          <a:prstGeom prst="rect">
            <a:avLst/>
          </a:prstGeom>
          <a:solidFill>
            <a:srgbClr val="FFFFFF"/>
          </a:solidFill>
          <a:ln w="54864">
            <a:solidFill>
              <a:srgbClr val="1A0B08"/>
            </a:solidFill>
            <a:prstDash val="solid"/>
          </a:ln>
        </p:spPr>
        <p:txBody>
          <a:bodyPr/>
          <a:lstStyle/>
          <a:p>
            <a:endParaRPr lang="es-ES"/>
          </a:p>
        </p:txBody>
      </p:sp>
      <p:pic>
        <p:nvPicPr>
          <p:cNvPr id="7" name="Image 2" descr="preencoded.png"/>
          <p:cNvPicPr>
            <a:picLocks noChangeAspect="1"/>
          </p:cNvPicPr>
          <p:nvPr/>
        </p:nvPicPr>
        <p:blipFill>
          <a:blip r:embed="rId4"/>
          <a:stretch>
            <a:fillRect/>
          </a:stretch>
        </p:blipFill>
        <p:spPr>
          <a:xfrm>
            <a:off x="428625" y="4539853"/>
            <a:ext cx="125016" cy="7144"/>
          </a:xfrm>
          <a:prstGeom prst="rect">
            <a:avLst/>
          </a:prstGeom>
        </p:spPr>
      </p:pic>
      <p:sp>
        <p:nvSpPr>
          <p:cNvPr id="8" name="Text 2"/>
          <p:cNvSpPr/>
          <p:nvPr/>
        </p:nvSpPr>
        <p:spPr>
          <a:xfrm>
            <a:off x="660797" y="4453766"/>
            <a:ext cx="2640275" cy="182101"/>
          </a:xfrm>
          <a:prstGeom prst="rect">
            <a:avLst/>
          </a:prstGeom>
          <a:noFill/>
          <a:ln/>
        </p:spPr>
        <p:txBody>
          <a:bodyPr wrap="square" lIns="0" tIns="0" rIns="0" bIns="0" rtlCol="0" anchor="t">
            <a:spAutoFit/>
          </a:bodyPr>
          <a:lstStyle/>
          <a:p>
            <a:pPr>
              <a:lnSpc>
                <a:spcPct val="112000"/>
              </a:lnSpc>
            </a:pPr>
            <a:r>
              <a:rPr sz="1150" dirty="0">
                <a:solidFill>
                  <a:srgbClr val="2F3640"/>
                </a:solidFill>
                <a:latin typeface="Segoe UI" pitchFamily="34" charset="0"/>
                <a:cs typeface="Segoe UI" pitchFamily="34" charset="-120"/>
              </a:rPr>
              <a:t>Highest total sales at $62.1M.</a:t>
            </a:r>
          </a:p>
        </p:txBody>
      </p:sp>
      <p:pic>
        <p:nvPicPr>
          <p:cNvPr id="9" name="Image 3" descr="preencoded.png"/>
          <p:cNvPicPr>
            <a:picLocks noChangeAspect="1"/>
          </p:cNvPicPr>
          <p:nvPr/>
        </p:nvPicPr>
        <p:blipFill>
          <a:blip r:embed="rId5"/>
          <a:stretch>
            <a:fillRect/>
          </a:stretch>
        </p:blipFill>
        <p:spPr>
          <a:xfrm>
            <a:off x="428625" y="4974171"/>
            <a:ext cx="125016" cy="7144"/>
          </a:xfrm>
          <a:prstGeom prst="rect">
            <a:avLst/>
          </a:prstGeom>
        </p:spPr>
      </p:pic>
      <p:sp>
        <p:nvSpPr>
          <p:cNvPr id="10" name="Text 3"/>
          <p:cNvSpPr/>
          <p:nvPr/>
        </p:nvSpPr>
        <p:spPr>
          <a:xfrm>
            <a:off x="660797" y="4871805"/>
            <a:ext cx="4663136" cy="182101"/>
          </a:xfrm>
          <a:prstGeom prst="rect">
            <a:avLst/>
          </a:prstGeom>
          <a:noFill/>
          <a:ln/>
        </p:spPr>
        <p:txBody>
          <a:bodyPr wrap="none" lIns="0" tIns="0" rIns="0" bIns="0" rtlCol="0" anchor="t">
            <a:spAutoFit/>
          </a:bodyPr>
          <a:lstStyle/>
          <a:p>
            <a:pPr>
              <a:lnSpc>
                <a:spcPct val="112000"/>
              </a:lnSpc>
            </a:pPr>
            <a:r>
              <a:rPr sz="1150" dirty="0">
                <a:solidFill>
                  <a:srgbClr val="2F3640"/>
                </a:solidFill>
                <a:latin typeface="Segoe UI" pitchFamily="34" charset="0"/>
                <a:cs typeface="Segoe UI" pitchFamily="34" charset="-120"/>
              </a:rPr>
              <a:t>Brazil is the efficiency benchmark at 10.80 revenue per marketing dollar.</a:t>
            </a:r>
          </a:p>
        </p:txBody>
      </p:sp>
      <p:sp>
        <p:nvSpPr>
          <p:cNvPr id="11" name="Shape 4"/>
          <p:cNvSpPr/>
          <p:nvPr/>
        </p:nvSpPr>
        <p:spPr>
          <a:xfrm>
            <a:off x="5357813" y="0"/>
            <a:ext cx="3786188" cy="5158457"/>
          </a:xfrm>
          <a:prstGeom prst="rect">
            <a:avLst/>
          </a:prstGeom>
          <a:solidFill>
            <a:srgbClr val="1A0B08"/>
          </a:solidFill>
          <a:ln/>
        </p:spPr>
        <p:txBody>
          <a:bodyPr/>
          <a:lstStyle/>
          <a:p>
            <a:endParaRPr lang="es-ES"/>
          </a:p>
        </p:txBody>
      </p:sp>
      <p:sp>
        <p:nvSpPr>
          <p:cNvPr id="12" name="Shape 5"/>
          <p:cNvSpPr/>
          <p:nvPr/>
        </p:nvSpPr>
        <p:spPr>
          <a:xfrm>
            <a:off x="5357813" y="0"/>
            <a:ext cx="57150" cy="5158457"/>
          </a:xfrm>
          <a:prstGeom prst="rect">
            <a:avLst/>
          </a:prstGeom>
          <a:solidFill>
            <a:srgbClr val="8B0000"/>
          </a:solidFill>
          <a:ln/>
        </p:spPr>
        <p:txBody>
          <a:bodyPr/>
          <a:lstStyle/>
          <a:p>
            <a:endParaRPr lang="es-ES"/>
          </a:p>
        </p:txBody>
      </p:sp>
      <p:sp>
        <p:nvSpPr>
          <p:cNvPr id="13" name="Text 6"/>
          <p:cNvSpPr/>
          <p:nvPr/>
        </p:nvSpPr>
        <p:spPr>
          <a:xfrm>
            <a:off x="5643563" y="428625"/>
            <a:ext cx="3214688" cy="394692"/>
          </a:xfrm>
          <a:prstGeom prst="rect">
            <a:avLst/>
          </a:prstGeom>
          <a:noFill/>
          <a:ln/>
        </p:spPr>
        <p:txBody>
          <a:bodyPr wrap="square" lIns="0" tIns="0" rIns="0" bIns="0" rtlCol="0" anchor="t">
            <a:spAutoFit/>
          </a:bodyPr>
          <a:lstStyle/>
          <a:p>
            <a:pPr marL="0" indent="0" algn="l">
              <a:buNone/>
            </a:pPr>
            <a:r>
              <a:rPr lang="en-US" sz="2450" b="1" kern="0" spc="-1" dirty="0">
                <a:solidFill>
                  <a:srgbClr val="FDF0ED"/>
                </a:solidFill>
                <a:latin typeface="Segoe UI" pitchFamily="34" charset="0"/>
                <a:ea typeface="Segoe UI" pitchFamily="34" charset="-122"/>
                <a:cs typeface="Segoe UI" pitchFamily="34" charset="-120"/>
              </a:rPr>
              <a:t>EFFICIENCY</a:t>
            </a:r>
            <a:endParaRPr lang="en-US" sz="2450" dirty="0"/>
          </a:p>
        </p:txBody>
      </p:sp>
      <p:sp>
        <p:nvSpPr>
          <p:cNvPr id="14" name="Shape 7"/>
          <p:cNvSpPr/>
          <p:nvPr/>
        </p:nvSpPr>
        <p:spPr>
          <a:xfrm>
            <a:off x="5643563" y="1109067"/>
            <a:ext cx="3214688" cy="1325166"/>
          </a:xfrm>
          <a:prstGeom prst="rect">
            <a:avLst/>
          </a:prstGeom>
          <a:solidFill>
            <a:srgbClr val="8B0000"/>
          </a:solidFill>
          <a:ln w="54864">
            <a:solidFill>
              <a:srgbClr val="FDF0ED"/>
            </a:solidFill>
            <a:prstDash val="solid"/>
          </a:ln>
        </p:spPr>
        <p:txBody>
          <a:bodyPr/>
          <a:lstStyle/>
          <a:p>
            <a:endParaRPr lang="es-ES"/>
          </a:p>
        </p:txBody>
      </p:sp>
      <p:sp>
        <p:nvSpPr>
          <p:cNvPr id="15" name="Text 8"/>
          <p:cNvSpPr/>
          <p:nvPr/>
        </p:nvSpPr>
        <p:spPr>
          <a:xfrm>
            <a:off x="5857875" y="1323380"/>
            <a:ext cx="961802" cy="469359"/>
          </a:xfrm>
          <a:prstGeom prst="rect">
            <a:avLst/>
          </a:prstGeom>
          <a:noFill/>
          <a:ln/>
        </p:spPr>
        <p:txBody>
          <a:bodyPr wrap="none" lIns="0" tIns="0" rIns="0" bIns="0" rtlCol="0" anchor="t">
            <a:spAutoFit/>
          </a:bodyPr>
          <a:lstStyle/>
          <a:p>
            <a:r>
              <a:rPr sz="2800" b="1">
                <a:solidFill>
                  <a:srgbClr val="FFFFFF"/>
                </a:solidFill>
              </a:rPr>
              <a:t>7.14</a:t>
            </a:r>
          </a:p>
        </p:txBody>
      </p:sp>
      <p:sp>
        <p:nvSpPr>
          <p:cNvPr id="16" name="Text 9"/>
          <p:cNvSpPr/>
          <p:nvPr/>
        </p:nvSpPr>
        <p:spPr>
          <a:xfrm>
            <a:off x="5857875" y="1909167"/>
            <a:ext cx="2786063" cy="196453"/>
          </a:xfrm>
          <a:prstGeom prst="rect">
            <a:avLst/>
          </a:prstGeom>
          <a:noFill/>
          <a:ln/>
        </p:spPr>
        <p:txBody>
          <a:bodyPr wrap="square" lIns="0" tIns="0" rIns="0" bIns="0" rtlCol="0" anchor="t">
            <a:spAutoFit/>
          </a:bodyPr>
          <a:lstStyle/>
          <a:p>
            <a:r>
              <a:rPr sz="1300" b="1">
                <a:solidFill>
                  <a:srgbClr val="FFFFFF"/>
                </a:solidFill>
              </a:rPr>
              <a:t>REV / MARKETING $</a:t>
            </a:r>
          </a:p>
        </p:txBody>
      </p:sp>
      <p:sp>
        <p:nvSpPr>
          <p:cNvPr id="17" name="Text 10"/>
          <p:cNvSpPr/>
          <p:nvPr/>
        </p:nvSpPr>
        <p:spPr>
          <a:xfrm>
            <a:off x="5643563" y="2605683"/>
            <a:ext cx="3214688" cy="822927"/>
          </a:xfrm>
          <a:prstGeom prst="rect">
            <a:avLst/>
          </a:prstGeom>
          <a:noFill/>
          <a:ln/>
        </p:spPr>
        <p:txBody>
          <a:bodyPr wrap="square" lIns="0" tIns="0" rIns="0" bIns="0" rtlCol="0" anchor="t">
            <a:spAutoFit/>
          </a:bodyPr>
          <a:lstStyle/>
          <a:p>
            <a:r>
              <a:rPr sz="1300">
                <a:solidFill>
                  <a:srgbClr val="FFFFFF"/>
                </a:solidFill>
              </a:rPr>
              <a:t>Australia gives us scale; Brazil shows the strongest marketing efficiency.</a:t>
            </a:r>
          </a:p>
        </p:txBody>
      </p:sp>
      <p:sp>
        <p:nvSpPr>
          <p:cNvPr id="18" name="Text 11"/>
          <p:cNvSpPr/>
          <p:nvPr/>
        </p:nvSpPr>
        <p:spPr>
          <a:xfrm>
            <a:off x="5643563" y="3814372"/>
            <a:ext cx="3214688" cy="132159"/>
          </a:xfrm>
          <a:prstGeom prst="rect">
            <a:avLst/>
          </a:prstGeom>
          <a:noFill/>
          <a:ln/>
        </p:spPr>
        <p:txBody>
          <a:bodyPr wrap="square" lIns="0" tIns="0" rIns="0" bIns="0" rtlCol="0" anchor="t">
            <a:spAutoFit/>
          </a:bodyPr>
          <a:lstStyle/>
          <a:p>
            <a:r>
              <a:rPr sz="900" b="1">
                <a:solidFill>
                  <a:srgbClr val="FFFFFF"/>
                </a:solidFill>
              </a:rPr>
              <a:t>RECOMMENDATION:</a:t>
            </a:r>
          </a:p>
        </p:txBody>
      </p:sp>
      <p:sp>
        <p:nvSpPr>
          <p:cNvPr id="19" name="Text 12"/>
          <p:cNvSpPr/>
          <p:nvPr/>
        </p:nvSpPr>
        <p:spPr>
          <a:xfrm>
            <a:off x="5643563" y="4017969"/>
            <a:ext cx="3214688" cy="164306"/>
          </a:xfrm>
          <a:prstGeom prst="rect">
            <a:avLst/>
          </a:prstGeom>
          <a:noFill/>
          <a:ln/>
        </p:spPr>
        <p:txBody>
          <a:bodyPr wrap="square" lIns="0" tIns="0" rIns="0" bIns="0" rtlCol="0" anchor="t">
            <a:spAutoFit/>
          </a:bodyPr>
          <a:lstStyle/>
          <a:p>
            <a:r>
              <a:rPr sz="1100">
                <a:solidFill>
                  <a:srgbClr val="FFFFFF"/>
                </a:solidFill>
              </a:rPr>
              <a:t>Scale in Australia; apply Brazil's campaign efficiency lessons.</a:t>
            </a:r>
          </a:p>
        </p:txBody>
      </p:sp>
      <p:pic>
        <p:nvPicPr>
          <p:cNvPr id="20" name="Picture 19" descr="country_sales.png"/>
          <p:cNvPicPr>
            <a:picLocks noChangeAspect="1"/>
          </p:cNvPicPr>
          <p:nvPr/>
        </p:nvPicPr>
        <p:blipFill>
          <a:blip r:embed="rId6"/>
          <a:stretch>
            <a:fillRect/>
          </a:stretch>
        </p:blipFill>
        <p:spPr>
          <a:xfrm>
            <a:off x="491132" y="1494933"/>
            <a:ext cx="4545193" cy="27142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001000" cy="444698"/>
          </a:xfrm>
          <a:prstGeom prst="rect">
            <a:avLst/>
          </a:prstGeom>
          <a:noFill/>
          <a:ln/>
        </p:spPr>
        <p:txBody>
          <a:bodyPr wrap="square" lIns="0" tIns="0" rIns="0" bIns="0" rtlCol="0" anchor="t">
            <a:spAutoFit/>
          </a:bodyPr>
          <a:lstStyle/>
          <a:p>
            <a:pPr marL="0" indent="0" algn="l">
              <a:buNone/>
            </a:pPr>
            <a:r>
              <a:rPr lang="en-US" sz="2750" b="1" kern="0" spc="-1" dirty="0">
                <a:solidFill>
                  <a:srgbClr val="1A0B08"/>
                </a:solidFill>
                <a:latin typeface="Segoe UI" pitchFamily="34" charset="0"/>
                <a:ea typeface="Segoe UI" pitchFamily="34" charset="-122"/>
                <a:cs typeface="Segoe UI" pitchFamily="34" charset="-120"/>
              </a:rPr>
              <a:t>PRODUCT-CHANNEL MIX &amp; SEASONALITY</a:t>
            </a:r>
            <a:endParaRPr lang="en-US" sz="2750" dirty="0"/>
          </a:p>
        </p:txBody>
      </p:sp>
      <p:sp>
        <p:nvSpPr>
          <p:cNvPr id="5" name="Shape 1"/>
          <p:cNvSpPr/>
          <p:nvPr/>
        </p:nvSpPr>
        <p:spPr>
          <a:xfrm>
            <a:off x="571500" y="1159073"/>
            <a:ext cx="5143500" cy="2528888"/>
          </a:xfrm>
          <a:prstGeom prst="rect">
            <a:avLst/>
          </a:prstGeom>
          <a:solidFill>
            <a:srgbClr val="FFFFFF"/>
          </a:solidFill>
          <a:ln w="54864">
            <a:solidFill>
              <a:srgbClr val="1A0B08"/>
            </a:solidFill>
            <a:prstDash val="solid"/>
          </a:ln>
        </p:spPr>
        <p:txBody>
          <a:bodyPr/>
          <a:lstStyle/>
          <a:p>
            <a:endParaRPr lang="es-ES"/>
          </a:p>
        </p:txBody>
      </p:sp>
      <p:sp>
        <p:nvSpPr>
          <p:cNvPr id="6" name="Shape 2"/>
          <p:cNvSpPr/>
          <p:nvPr/>
        </p:nvSpPr>
        <p:spPr>
          <a:xfrm>
            <a:off x="585788" y="1159073"/>
            <a:ext cx="846562" cy="664369"/>
          </a:xfrm>
          <a:prstGeom prst="rect">
            <a:avLst/>
          </a:prstGeom>
          <a:solidFill>
            <a:srgbClr val="1A0B08"/>
          </a:solidFill>
          <a:ln/>
        </p:spPr>
        <p:txBody>
          <a:bodyPr/>
          <a:lstStyle/>
          <a:p>
            <a:endParaRPr lang="es-ES"/>
          </a:p>
        </p:txBody>
      </p:sp>
      <p:sp>
        <p:nvSpPr>
          <p:cNvPr id="7" name="Text 3"/>
          <p:cNvSpPr/>
          <p:nvPr/>
        </p:nvSpPr>
        <p:spPr>
          <a:xfrm>
            <a:off x="585788" y="1159073"/>
            <a:ext cx="846562" cy="664369"/>
          </a:xfrm>
          <a:prstGeom prst="rect">
            <a:avLst/>
          </a:prstGeom>
          <a:noFill/>
          <a:ln/>
        </p:spPr>
        <p:txBody>
          <a:bodyPr wrap="none" lIns="170053" tIns="170053" rIns="170053" bIns="170053" rtlCol="0" anchor="ctr">
            <a:spAutoFit/>
          </a:bodyPr>
          <a:lstStyle/>
          <a:p>
            <a:pPr marL="0" indent="0" algn="l">
              <a:buNone/>
            </a:pPr>
            <a:r>
              <a:rPr lang="en-US" sz="1100" b="1" dirty="0">
                <a:solidFill>
                  <a:srgbClr val="FDF0ED"/>
                </a:solidFill>
                <a:latin typeface="Segoe UI" pitchFamily="34" charset="0"/>
                <a:ea typeface="Segoe UI" pitchFamily="34" charset="-122"/>
                <a:cs typeface="Segoe UI" pitchFamily="34" charset="-120"/>
              </a:rPr>
              <a:t>LEVER</a:t>
            </a:r>
            <a:endParaRPr lang="en-US" sz="1100" dirty="0"/>
          </a:p>
        </p:txBody>
      </p:sp>
      <p:sp>
        <p:nvSpPr>
          <p:cNvPr id="8" name="Shape 4"/>
          <p:cNvSpPr/>
          <p:nvPr/>
        </p:nvSpPr>
        <p:spPr>
          <a:xfrm>
            <a:off x="1432350" y="1159073"/>
            <a:ext cx="1689022" cy="664369"/>
          </a:xfrm>
          <a:prstGeom prst="rect">
            <a:avLst/>
          </a:prstGeom>
          <a:solidFill>
            <a:srgbClr val="1A0B08"/>
          </a:solidFill>
          <a:ln/>
        </p:spPr>
        <p:txBody>
          <a:bodyPr/>
          <a:lstStyle/>
          <a:p>
            <a:endParaRPr lang="es-ES"/>
          </a:p>
        </p:txBody>
      </p:sp>
      <p:sp>
        <p:nvSpPr>
          <p:cNvPr id="9" name="Text 5"/>
          <p:cNvSpPr/>
          <p:nvPr/>
        </p:nvSpPr>
        <p:spPr>
          <a:xfrm>
            <a:off x="1432350" y="1159073"/>
            <a:ext cx="1689022" cy="664369"/>
          </a:xfrm>
          <a:prstGeom prst="rect">
            <a:avLst/>
          </a:prstGeom>
          <a:noFill/>
          <a:ln/>
        </p:spPr>
        <p:txBody>
          <a:bodyPr wrap="square" lIns="170053" tIns="170053" rIns="170053" bIns="170053" rtlCol="0" anchor="ctr">
            <a:spAutoFit/>
          </a:bodyPr>
          <a:lstStyle/>
          <a:p>
            <a:pPr marL="0" indent="0" algn="l">
              <a:buNone/>
            </a:pPr>
            <a:r>
              <a:rPr lang="en-US" sz="1100" b="1" dirty="0">
                <a:solidFill>
                  <a:srgbClr val="FDF0ED"/>
                </a:solidFill>
                <a:latin typeface="Segoe UI" pitchFamily="34" charset="0"/>
                <a:ea typeface="Segoe UI" pitchFamily="34" charset="-122"/>
                <a:cs typeface="Segoe UI" pitchFamily="34" charset="-120"/>
              </a:rPr>
              <a:t>DOMINANT SEGMENT</a:t>
            </a:r>
            <a:endParaRPr lang="en-US" sz="1100" dirty="0"/>
          </a:p>
        </p:txBody>
      </p:sp>
      <p:sp>
        <p:nvSpPr>
          <p:cNvPr id="10" name="Shape 6"/>
          <p:cNvSpPr/>
          <p:nvPr/>
        </p:nvSpPr>
        <p:spPr>
          <a:xfrm>
            <a:off x="3121372" y="1159073"/>
            <a:ext cx="2579340" cy="664369"/>
          </a:xfrm>
          <a:prstGeom prst="rect">
            <a:avLst/>
          </a:prstGeom>
          <a:solidFill>
            <a:srgbClr val="1A0B08"/>
          </a:solidFill>
          <a:ln/>
        </p:spPr>
        <p:txBody>
          <a:bodyPr/>
          <a:lstStyle/>
          <a:p>
            <a:endParaRPr lang="es-ES"/>
          </a:p>
        </p:txBody>
      </p:sp>
      <p:sp>
        <p:nvSpPr>
          <p:cNvPr id="11" name="Text 7"/>
          <p:cNvSpPr/>
          <p:nvPr/>
        </p:nvSpPr>
        <p:spPr>
          <a:xfrm>
            <a:off x="3121372" y="1159073"/>
            <a:ext cx="2579340" cy="664369"/>
          </a:xfrm>
          <a:prstGeom prst="rect">
            <a:avLst/>
          </a:prstGeom>
          <a:noFill/>
          <a:ln/>
        </p:spPr>
        <p:txBody>
          <a:bodyPr wrap="square" lIns="170053" tIns="170053" rIns="170053" bIns="170053" rtlCol="0" anchor="ctr">
            <a:spAutoFit/>
          </a:bodyPr>
          <a:lstStyle/>
          <a:p>
            <a:pPr marL="0" indent="0" algn="l">
              <a:buNone/>
            </a:pPr>
            <a:r>
              <a:rPr lang="en-US" sz="1100" b="1" dirty="0">
                <a:solidFill>
                  <a:srgbClr val="FDF0ED"/>
                </a:solidFill>
                <a:latin typeface="Segoe UI" pitchFamily="34" charset="0"/>
                <a:ea typeface="Segoe UI" pitchFamily="34" charset="-122"/>
                <a:cs typeface="Segoe UI" pitchFamily="34" charset="-120"/>
              </a:rPr>
              <a:t>KEY OBSERVATION</a:t>
            </a:r>
            <a:endParaRPr lang="en-US" sz="1100" dirty="0"/>
          </a:p>
        </p:txBody>
      </p:sp>
      <p:sp>
        <p:nvSpPr>
          <p:cNvPr id="12" name="Text 8"/>
          <p:cNvSpPr/>
          <p:nvPr/>
        </p:nvSpPr>
        <p:spPr>
          <a:xfrm>
            <a:off x="585788" y="1823442"/>
            <a:ext cx="846562" cy="642938"/>
          </a:xfrm>
          <a:prstGeom prst="rect">
            <a:avLst/>
          </a:prstGeom>
          <a:noFill/>
          <a:ln/>
        </p:spPr>
        <p:txBody>
          <a:bodyPr wrap="none" lIns="170053" tIns="170053" rIns="170053" bIns="170053" rtlCol="0" anchor="ctr">
            <a:spAutoFit/>
          </a:bodyPr>
          <a:lstStyle/>
          <a:p>
            <a:pPr marL="0" indent="0" algn="l">
              <a:buNone/>
            </a:pPr>
            <a:r>
              <a:rPr lang="en-US" sz="1050" dirty="0">
                <a:solidFill>
                  <a:srgbClr val="2F3640"/>
                </a:solidFill>
                <a:latin typeface="Segoe UI" pitchFamily="34" charset="0"/>
                <a:ea typeface="Segoe UI" pitchFamily="34" charset="-122"/>
                <a:cs typeface="Segoe UI" pitchFamily="34" charset="-120"/>
              </a:rPr>
              <a:t>Product</a:t>
            </a:r>
            <a:endParaRPr lang="en-US" sz="1050" dirty="0"/>
          </a:p>
        </p:txBody>
      </p:sp>
      <p:sp>
        <p:nvSpPr>
          <p:cNvPr id="13" name="Text 9"/>
          <p:cNvSpPr/>
          <p:nvPr/>
        </p:nvSpPr>
        <p:spPr>
          <a:xfrm>
            <a:off x="1432350" y="1823442"/>
            <a:ext cx="1689022" cy="642938"/>
          </a:xfrm>
          <a:prstGeom prst="rect">
            <a:avLst/>
          </a:prstGeom>
          <a:noFill/>
          <a:ln/>
        </p:spPr>
        <p:txBody>
          <a:bodyPr wrap="square" lIns="170053" tIns="170053" rIns="170053" bIns="170053" rtlCol="0" anchor="ctr">
            <a:spAutoFit/>
          </a:bodyPr>
          <a:lstStyle/>
          <a:p>
            <a:r>
              <a:rPr sz="1000" dirty="0">
                <a:solidFill>
                  <a:srgbClr val="8B0000"/>
                </a:solidFill>
              </a:rPr>
              <a:t>Mixed Assortment Box</a:t>
            </a:r>
          </a:p>
        </p:txBody>
      </p:sp>
      <p:sp>
        <p:nvSpPr>
          <p:cNvPr id="14" name="Text 10"/>
          <p:cNvSpPr/>
          <p:nvPr/>
        </p:nvSpPr>
        <p:spPr>
          <a:xfrm>
            <a:off x="3121372" y="1823442"/>
            <a:ext cx="2579340" cy="642938"/>
          </a:xfrm>
          <a:prstGeom prst="rect">
            <a:avLst/>
          </a:prstGeom>
          <a:noFill/>
          <a:ln/>
        </p:spPr>
        <p:txBody>
          <a:bodyPr wrap="square" lIns="170053" tIns="170053" rIns="170053" bIns="170053" rtlCol="0" anchor="ctr">
            <a:spAutoFit/>
          </a:bodyPr>
          <a:lstStyle/>
          <a:p>
            <a:r>
              <a:rPr sz="1000">
                <a:solidFill>
                  <a:srgbClr val="333943"/>
                </a:solidFill>
              </a:rPr>
              <a:t>Top revenue product</a:t>
            </a:r>
          </a:p>
        </p:txBody>
      </p:sp>
      <p:sp>
        <p:nvSpPr>
          <p:cNvPr id="15" name="Text 11"/>
          <p:cNvSpPr/>
          <p:nvPr/>
        </p:nvSpPr>
        <p:spPr>
          <a:xfrm>
            <a:off x="585788" y="2466380"/>
            <a:ext cx="846562" cy="478631"/>
          </a:xfrm>
          <a:prstGeom prst="rect">
            <a:avLst/>
          </a:prstGeom>
          <a:noFill/>
          <a:ln/>
        </p:spPr>
        <p:txBody>
          <a:bodyPr wrap="none" lIns="170053" tIns="170053" rIns="170053" bIns="170053" rtlCol="0" anchor="ctr">
            <a:spAutoFit/>
          </a:bodyPr>
          <a:lstStyle/>
          <a:p>
            <a:pPr marL="0" indent="0" algn="l">
              <a:buNone/>
            </a:pPr>
            <a:r>
              <a:rPr lang="en-US" sz="1050" dirty="0">
                <a:solidFill>
                  <a:srgbClr val="2F3640"/>
                </a:solidFill>
                <a:latin typeface="Segoe UI" pitchFamily="34" charset="0"/>
                <a:ea typeface="Segoe UI" pitchFamily="34" charset="-122"/>
                <a:cs typeface="Segoe UI" pitchFamily="34" charset="-120"/>
              </a:rPr>
              <a:t>Channel</a:t>
            </a:r>
            <a:endParaRPr lang="en-US" sz="1050" dirty="0"/>
          </a:p>
        </p:txBody>
      </p:sp>
      <p:sp>
        <p:nvSpPr>
          <p:cNvPr id="16" name="Text 12"/>
          <p:cNvSpPr/>
          <p:nvPr/>
        </p:nvSpPr>
        <p:spPr>
          <a:xfrm>
            <a:off x="1432350" y="2466380"/>
            <a:ext cx="1689022" cy="478631"/>
          </a:xfrm>
          <a:prstGeom prst="rect">
            <a:avLst/>
          </a:prstGeom>
          <a:noFill/>
          <a:ln/>
        </p:spPr>
        <p:txBody>
          <a:bodyPr wrap="square" lIns="170053" tIns="170053" rIns="170053" bIns="170053" rtlCol="0" anchor="ctr">
            <a:spAutoFit/>
          </a:bodyPr>
          <a:lstStyle/>
          <a:p>
            <a:r>
              <a:rPr sz="1000">
                <a:solidFill>
                  <a:srgbClr val="8B0000"/>
                </a:solidFill>
              </a:rPr>
              <a:t>Retail</a:t>
            </a:r>
          </a:p>
        </p:txBody>
      </p:sp>
      <p:sp>
        <p:nvSpPr>
          <p:cNvPr id="17" name="Text 13"/>
          <p:cNvSpPr/>
          <p:nvPr/>
        </p:nvSpPr>
        <p:spPr>
          <a:xfrm>
            <a:off x="3121372" y="2466380"/>
            <a:ext cx="2579340" cy="478631"/>
          </a:xfrm>
          <a:prstGeom prst="rect">
            <a:avLst/>
          </a:prstGeom>
          <a:noFill/>
          <a:ln/>
        </p:spPr>
        <p:txBody>
          <a:bodyPr wrap="square" lIns="170053" tIns="170053" rIns="170053" bIns="170053" rtlCol="0" anchor="ctr">
            <a:spAutoFit/>
          </a:bodyPr>
          <a:lstStyle/>
          <a:p>
            <a:r>
              <a:rPr sz="1000">
                <a:solidFill>
                  <a:srgbClr val="333943"/>
                </a:solidFill>
              </a:rPr>
              <a:t>Highest revenue channel</a:t>
            </a:r>
          </a:p>
        </p:txBody>
      </p:sp>
      <p:sp>
        <p:nvSpPr>
          <p:cNvPr id="18" name="Text 14"/>
          <p:cNvSpPr/>
          <p:nvPr/>
        </p:nvSpPr>
        <p:spPr>
          <a:xfrm>
            <a:off x="585788" y="2945011"/>
            <a:ext cx="846562" cy="642938"/>
          </a:xfrm>
          <a:prstGeom prst="rect">
            <a:avLst/>
          </a:prstGeom>
          <a:noFill/>
          <a:ln/>
        </p:spPr>
        <p:txBody>
          <a:bodyPr wrap="none" lIns="170053" tIns="170053" rIns="170053" bIns="170053" rtlCol="0" anchor="ctr">
            <a:spAutoFit/>
          </a:bodyPr>
          <a:lstStyle/>
          <a:p>
            <a:pPr marL="0" indent="0" algn="l">
              <a:buNone/>
            </a:pPr>
            <a:r>
              <a:rPr lang="en-US" sz="1050" dirty="0">
                <a:solidFill>
                  <a:srgbClr val="2F3640"/>
                </a:solidFill>
                <a:latin typeface="Segoe UI" pitchFamily="34" charset="0"/>
                <a:ea typeface="Segoe UI" pitchFamily="34" charset="-122"/>
                <a:cs typeface="Segoe UI" pitchFamily="34" charset="-120"/>
              </a:rPr>
              <a:t>Season</a:t>
            </a:r>
            <a:endParaRPr lang="en-US" sz="1050" dirty="0"/>
          </a:p>
        </p:txBody>
      </p:sp>
      <p:sp>
        <p:nvSpPr>
          <p:cNvPr id="19" name="Text 15"/>
          <p:cNvSpPr/>
          <p:nvPr/>
        </p:nvSpPr>
        <p:spPr>
          <a:xfrm>
            <a:off x="1432350" y="2945011"/>
            <a:ext cx="1689022" cy="642938"/>
          </a:xfrm>
          <a:prstGeom prst="rect">
            <a:avLst/>
          </a:prstGeom>
          <a:noFill/>
          <a:ln/>
        </p:spPr>
        <p:txBody>
          <a:bodyPr wrap="square" lIns="170053" tIns="170053" rIns="170053" bIns="170053" rtlCol="0" anchor="ctr">
            <a:spAutoFit/>
          </a:bodyPr>
          <a:lstStyle/>
          <a:p>
            <a:r>
              <a:rPr sz="1000">
                <a:solidFill>
                  <a:srgbClr val="8B0000"/>
                </a:solidFill>
              </a:rPr>
              <a:t>Dec</a:t>
            </a:r>
          </a:p>
        </p:txBody>
      </p:sp>
      <p:sp>
        <p:nvSpPr>
          <p:cNvPr id="20" name="Text 16"/>
          <p:cNvSpPr/>
          <p:nvPr/>
        </p:nvSpPr>
        <p:spPr>
          <a:xfrm>
            <a:off x="3121372" y="2945011"/>
            <a:ext cx="2579340" cy="642938"/>
          </a:xfrm>
          <a:prstGeom prst="rect">
            <a:avLst/>
          </a:prstGeom>
          <a:noFill/>
          <a:ln/>
        </p:spPr>
        <p:txBody>
          <a:bodyPr wrap="square" lIns="170053" tIns="170053" rIns="170053" bIns="170053" rtlCol="0" anchor="ctr">
            <a:spAutoFit/>
          </a:bodyPr>
          <a:lstStyle/>
          <a:p>
            <a:r>
              <a:rPr sz="1000">
                <a:solidFill>
                  <a:srgbClr val="333943"/>
                </a:solidFill>
              </a:rPr>
              <a:t>Strong year-end peak</a:t>
            </a:r>
          </a:p>
        </p:txBody>
      </p:sp>
      <p:sp>
        <p:nvSpPr>
          <p:cNvPr id="21" name="Shape 17"/>
          <p:cNvSpPr/>
          <p:nvPr/>
        </p:nvSpPr>
        <p:spPr>
          <a:xfrm>
            <a:off x="6000750" y="1159073"/>
            <a:ext cx="2571750" cy="1350866"/>
          </a:xfrm>
          <a:prstGeom prst="rect">
            <a:avLst/>
          </a:prstGeom>
          <a:solidFill>
            <a:srgbClr val="8B0000"/>
          </a:solidFill>
          <a:ln w="54864">
            <a:solidFill>
              <a:srgbClr val="1A0B08"/>
            </a:solidFill>
            <a:prstDash val="solid"/>
          </a:ln>
        </p:spPr>
        <p:txBody>
          <a:bodyPr/>
          <a:lstStyle/>
          <a:p>
            <a:endParaRPr lang="es-ES"/>
          </a:p>
        </p:txBody>
      </p:sp>
      <p:sp>
        <p:nvSpPr>
          <p:cNvPr id="22" name="Text 18"/>
          <p:cNvSpPr/>
          <p:nvPr/>
        </p:nvSpPr>
        <p:spPr>
          <a:xfrm>
            <a:off x="6215063" y="1373386"/>
            <a:ext cx="2143125" cy="196453"/>
          </a:xfrm>
          <a:prstGeom prst="rect">
            <a:avLst/>
          </a:prstGeom>
          <a:noFill/>
          <a:ln/>
        </p:spPr>
        <p:txBody>
          <a:bodyPr wrap="square" lIns="0" tIns="0" rIns="0" bIns="0" rtlCol="0" anchor="t">
            <a:spAutoFit/>
          </a:bodyPr>
          <a:lstStyle/>
          <a:p>
            <a:pPr marL="0" indent="0" algn="l">
              <a:buNone/>
            </a:pPr>
            <a:r>
              <a:rPr lang="en-US" sz="1200" b="1" dirty="0">
                <a:solidFill>
                  <a:srgbClr val="FDF0ED"/>
                </a:solidFill>
                <a:latin typeface="Segoe UI" pitchFamily="34" charset="0"/>
                <a:ea typeface="Segoe UI" pitchFamily="34" charset="-122"/>
                <a:cs typeface="Segoe UI" pitchFamily="34" charset="-120"/>
              </a:rPr>
              <a:t>PRODUCT INSIGHT</a:t>
            </a:r>
            <a:endParaRPr lang="en-US" sz="1200" dirty="0"/>
          </a:p>
        </p:txBody>
      </p:sp>
      <p:sp>
        <p:nvSpPr>
          <p:cNvPr id="23" name="Text 19"/>
          <p:cNvSpPr/>
          <p:nvPr/>
        </p:nvSpPr>
        <p:spPr>
          <a:xfrm>
            <a:off x="6215063" y="1641277"/>
            <a:ext cx="2143125" cy="540051"/>
          </a:xfrm>
          <a:prstGeom prst="rect">
            <a:avLst/>
          </a:prstGeom>
          <a:noFill/>
          <a:ln/>
        </p:spPr>
        <p:txBody>
          <a:bodyPr wrap="square" lIns="0" tIns="0" rIns="0" bIns="0" rtlCol="0" anchor="t">
            <a:spAutoFit/>
          </a:bodyPr>
          <a:lstStyle/>
          <a:p>
            <a:r>
              <a:rPr sz="1200">
                <a:solidFill>
                  <a:srgbClr val="FFFFFF"/>
                </a:solidFill>
              </a:rPr>
              <a:t>Mixed Assortment Box leads revenue; 70% Dark Bar leads unit volume.</a:t>
            </a:r>
          </a:p>
        </p:txBody>
      </p:sp>
      <p:sp>
        <p:nvSpPr>
          <p:cNvPr id="24" name="Shape 20"/>
          <p:cNvSpPr/>
          <p:nvPr/>
        </p:nvSpPr>
        <p:spPr>
          <a:xfrm>
            <a:off x="6000750" y="2538515"/>
            <a:ext cx="2571750" cy="1350866"/>
          </a:xfrm>
          <a:prstGeom prst="rect">
            <a:avLst/>
          </a:prstGeom>
          <a:solidFill>
            <a:srgbClr val="8B0000"/>
          </a:solidFill>
          <a:ln w="54864">
            <a:solidFill>
              <a:srgbClr val="1A0B08"/>
            </a:solidFill>
            <a:prstDash val="solid"/>
          </a:ln>
        </p:spPr>
        <p:txBody>
          <a:bodyPr/>
          <a:lstStyle/>
          <a:p>
            <a:endParaRPr lang="es-ES"/>
          </a:p>
        </p:txBody>
      </p:sp>
      <p:sp>
        <p:nvSpPr>
          <p:cNvPr id="25" name="Text 21"/>
          <p:cNvSpPr/>
          <p:nvPr/>
        </p:nvSpPr>
        <p:spPr>
          <a:xfrm>
            <a:off x="6215063" y="2752827"/>
            <a:ext cx="2143125" cy="196453"/>
          </a:xfrm>
          <a:prstGeom prst="rect">
            <a:avLst/>
          </a:prstGeom>
          <a:noFill/>
          <a:ln/>
        </p:spPr>
        <p:txBody>
          <a:bodyPr wrap="square" lIns="0" tIns="0" rIns="0" bIns="0" rtlCol="0" anchor="t">
            <a:spAutoFit/>
          </a:bodyPr>
          <a:lstStyle/>
          <a:p>
            <a:pPr marL="0" indent="0" algn="l">
              <a:buNone/>
            </a:pPr>
            <a:r>
              <a:rPr lang="en-US" sz="1200" b="1" dirty="0">
                <a:solidFill>
                  <a:srgbClr val="FDF0ED"/>
                </a:solidFill>
                <a:latin typeface="Segoe UI" pitchFamily="34" charset="0"/>
                <a:ea typeface="Segoe UI" pitchFamily="34" charset="-122"/>
                <a:cs typeface="Segoe UI" pitchFamily="34" charset="-120"/>
              </a:rPr>
              <a:t>CHANNEL INSIGHT</a:t>
            </a:r>
            <a:endParaRPr lang="en-US" sz="1200" dirty="0"/>
          </a:p>
        </p:txBody>
      </p:sp>
      <p:sp>
        <p:nvSpPr>
          <p:cNvPr id="26" name="Text 22"/>
          <p:cNvSpPr/>
          <p:nvPr/>
        </p:nvSpPr>
        <p:spPr>
          <a:xfrm>
            <a:off x="6215063" y="3020718"/>
            <a:ext cx="2143125" cy="360034"/>
          </a:xfrm>
          <a:prstGeom prst="rect">
            <a:avLst/>
          </a:prstGeom>
          <a:noFill/>
          <a:ln/>
        </p:spPr>
        <p:txBody>
          <a:bodyPr wrap="square" lIns="0" tIns="0" rIns="0" bIns="0" rtlCol="0" anchor="t">
            <a:spAutoFit/>
          </a:bodyPr>
          <a:lstStyle/>
          <a:p>
            <a:r>
              <a:rPr sz="1200">
                <a:solidFill>
                  <a:srgbClr val="FFFFFF"/>
                </a:solidFill>
              </a:rPr>
              <a:t>Retail leads revenue; Wholesale remains a volume lever.</a:t>
            </a:r>
          </a:p>
        </p:txBody>
      </p:sp>
      <p:sp>
        <p:nvSpPr>
          <p:cNvPr id="27" name="Shape 23"/>
          <p:cNvSpPr/>
          <p:nvPr/>
        </p:nvSpPr>
        <p:spPr>
          <a:xfrm>
            <a:off x="571500" y="3887986"/>
            <a:ext cx="8001000" cy="703659"/>
          </a:xfrm>
          <a:prstGeom prst="rect">
            <a:avLst/>
          </a:prstGeom>
          <a:solidFill>
            <a:srgbClr val="000000">
              <a:alpha val="0"/>
            </a:srgbClr>
          </a:solidFill>
          <a:ln/>
        </p:spPr>
        <p:txBody>
          <a:bodyPr/>
          <a:lstStyle/>
          <a:p>
            <a:endParaRPr lang="es-ES"/>
          </a:p>
        </p:txBody>
      </p:sp>
      <p:sp>
        <p:nvSpPr>
          <p:cNvPr id="28" name="Shape 24"/>
          <p:cNvSpPr/>
          <p:nvPr/>
        </p:nvSpPr>
        <p:spPr>
          <a:xfrm>
            <a:off x="571500" y="3887986"/>
            <a:ext cx="8001000" cy="57150"/>
          </a:xfrm>
          <a:prstGeom prst="rect">
            <a:avLst/>
          </a:prstGeom>
          <a:solidFill>
            <a:srgbClr val="1A0B08"/>
          </a:solidFill>
          <a:ln/>
        </p:spPr>
        <p:txBody>
          <a:bodyPr/>
          <a:lstStyle/>
          <a:p>
            <a:endParaRPr lang="es-ES"/>
          </a:p>
        </p:txBody>
      </p:sp>
      <p:pic>
        <p:nvPicPr>
          <p:cNvPr id="29" name="Image 1" descr="preencoded.png"/>
          <p:cNvPicPr>
            <a:picLocks noChangeAspect="1"/>
          </p:cNvPicPr>
          <p:nvPr/>
        </p:nvPicPr>
        <p:blipFill>
          <a:blip r:embed="rId4"/>
          <a:stretch>
            <a:fillRect/>
          </a:stretch>
        </p:blipFill>
        <p:spPr>
          <a:xfrm>
            <a:off x="1675712" y="4088209"/>
            <a:ext cx="285750" cy="228600"/>
          </a:xfrm>
          <a:prstGeom prst="rect">
            <a:avLst/>
          </a:prstGeom>
        </p:spPr>
      </p:pic>
      <p:sp>
        <p:nvSpPr>
          <p:cNvPr id="30" name="Text 25"/>
          <p:cNvSpPr/>
          <p:nvPr/>
        </p:nvSpPr>
        <p:spPr>
          <a:xfrm>
            <a:off x="1488357" y="4322772"/>
            <a:ext cx="719749" cy="276999"/>
          </a:xfrm>
          <a:prstGeom prst="rect">
            <a:avLst/>
          </a:prstGeom>
          <a:noFill/>
          <a:ln/>
        </p:spPr>
        <p:txBody>
          <a:bodyPr wrap="none" lIns="0" tIns="0" rIns="0" bIns="0" rtlCol="0" anchor="t">
            <a:spAutoFit/>
          </a:bodyPr>
          <a:lstStyle/>
          <a:p>
            <a:r>
              <a:rPr sz="800" b="1" dirty="0">
                <a:solidFill>
                  <a:srgbClr val="2F3640"/>
                </a:solidFill>
                <a:latin typeface="Segoe UI" pitchFamily="34" charset="0"/>
                <a:cs typeface="Segoe UI" pitchFamily="34" charset="-120"/>
              </a:rPr>
              <a:t>RETAIL</a:t>
            </a:r>
            <a:r>
              <a:rPr dirty="0"/>
              <a:t> </a:t>
            </a:r>
            <a:r>
              <a:rPr sz="800" b="1" dirty="0">
                <a:solidFill>
                  <a:srgbClr val="2F3640"/>
                </a:solidFill>
                <a:latin typeface="Segoe UI" pitchFamily="34" charset="0"/>
                <a:cs typeface="Segoe UI" pitchFamily="34" charset="-120"/>
              </a:rPr>
              <a:t>FOCUS</a:t>
            </a:r>
          </a:p>
        </p:txBody>
      </p:sp>
      <p:pic>
        <p:nvPicPr>
          <p:cNvPr id="31" name="Image 2" descr="preencoded.png"/>
          <p:cNvPicPr>
            <a:picLocks noChangeAspect="1"/>
          </p:cNvPicPr>
          <p:nvPr/>
        </p:nvPicPr>
        <p:blipFill>
          <a:blip r:embed="rId5"/>
          <a:stretch>
            <a:fillRect/>
          </a:stretch>
        </p:blipFill>
        <p:spPr>
          <a:xfrm>
            <a:off x="4300689" y="4088209"/>
            <a:ext cx="228600" cy="228600"/>
          </a:xfrm>
          <a:prstGeom prst="rect">
            <a:avLst/>
          </a:prstGeom>
        </p:spPr>
      </p:pic>
      <p:sp>
        <p:nvSpPr>
          <p:cNvPr id="32" name="Text 26"/>
          <p:cNvSpPr/>
          <p:nvPr/>
        </p:nvSpPr>
        <p:spPr>
          <a:xfrm>
            <a:off x="3977429" y="4399716"/>
            <a:ext cx="867225" cy="123111"/>
          </a:xfrm>
          <a:prstGeom prst="rect">
            <a:avLst/>
          </a:prstGeom>
          <a:noFill/>
          <a:ln/>
        </p:spPr>
        <p:txBody>
          <a:bodyPr wrap="none" lIns="0" tIns="0" rIns="0" bIns="0" rtlCol="0" anchor="t">
            <a:spAutoFit/>
          </a:bodyPr>
          <a:lstStyle/>
          <a:p>
            <a:pPr algn="ctr"/>
            <a:r>
              <a:rPr sz="800" b="1" dirty="0">
                <a:solidFill>
                  <a:srgbClr val="2F3640"/>
                </a:solidFill>
                <a:latin typeface="Segoe UI" pitchFamily="34" charset="0"/>
                <a:cs typeface="Segoe UI" pitchFamily="34" charset="-120"/>
              </a:rPr>
              <a:t>YEAR-END STOCK</a:t>
            </a:r>
          </a:p>
        </p:txBody>
      </p:sp>
      <p:pic>
        <p:nvPicPr>
          <p:cNvPr id="33" name="Image 3" descr="preencoded.png"/>
          <p:cNvPicPr>
            <a:picLocks noChangeAspect="1"/>
          </p:cNvPicPr>
          <p:nvPr/>
        </p:nvPicPr>
        <p:blipFill>
          <a:blip r:embed="rId6"/>
          <a:stretch>
            <a:fillRect/>
          </a:stretch>
        </p:blipFill>
        <p:spPr>
          <a:xfrm>
            <a:off x="6941324" y="4088209"/>
            <a:ext cx="228600" cy="228600"/>
          </a:xfrm>
          <a:prstGeom prst="rect">
            <a:avLst/>
          </a:prstGeom>
        </p:spPr>
      </p:pic>
      <p:sp>
        <p:nvSpPr>
          <p:cNvPr id="34" name="Text 27"/>
          <p:cNvSpPr/>
          <p:nvPr/>
        </p:nvSpPr>
        <p:spPr>
          <a:xfrm>
            <a:off x="6765991" y="4399716"/>
            <a:ext cx="572272" cy="123111"/>
          </a:xfrm>
          <a:prstGeom prst="rect">
            <a:avLst/>
          </a:prstGeom>
          <a:noFill/>
          <a:ln/>
        </p:spPr>
        <p:txBody>
          <a:bodyPr wrap="none" lIns="0" tIns="0" rIns="0" bIns="0" rtlCol="0" anchor="t">
            <a:spAutoFit/>
          </a:bodyPr>
          <a:lstStyle/>
          <a:p>
            <a:pPr algn="ctr"/>
            <a:r>
              <a:rPr sz="800" b="1" dirty="0">
                <a:solidFill>
                  <a:srgbClr val="2F3640"/>
                </a:solidFill>
                <a:latin typeface="Segoe UI" pitchFamily="34" charset="0"/>
                <a:cs typeface="Segoe UI" pitchFamily="34" charset="-120"/>
              </a:rPr>
              <a:t>GIFT BOXES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45B5E-CB61-CC46-92DC-FD652F3ADFC5}"/>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8F45598C-3086-2A20-AB3C-A70C8E618156}"/>
              </a:ext>
            </a:extLst>
          </p:cNvPr>
          <p:cNvSpPr>
            <a:spLocks noGrp="1" noRot="1" noMove="1" noResize="1" noEditPoints="1" noAdjustHandles="1" noChangeArrowheads="1" noChangeShapeType="1"/>
          </p:cNvSpPr>
          <p:nvPr/>
        </p:nvSpPr>
        <p:spPr>
          <a:xfrm>
            <a:off x="0" y="0"/>
            <a:ext cx="9144000" cy="5143500"/>
          </a:xfrm>
          <a:prstGeom prst="rect">
            <a:avLst/>
          </a:prstGeom>
          <a:solidFill>
            <a:srgbClr val="FFF1E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Text 0">
            <a:extLst>
              <a:ext uri="{FF2B5EF4-FFF2-40B4-BE49-F238E27FC236}">
                <a16:creationId xmlns:a16="http://schemas.microsoft.com/office/drawing/2014/main" id="{64D3AD8C-8B60-950B-47EC-FB97B39A079E}"/>
              </a:ext>
            </a:extLst>
          </p:cNvPr>
          <p:cNvSpPr/>
          <p:nvPr/>
        </p:nvSpPr>
        <p:spPr>
          <a:xfrm>
            <a:off x="571500" y="428625"/>
            <a:ext cx="8001000" cy="444698"/>
          </a:xfrm>
          <a:prstGeom prst="rect">
            <a:avLst/>
          </a:prstGeom>
          <a:noFill/>
          <a:ln/>
        </p:spPr>
        <p:txBody>
          <a:bodyPr wrap="square" lIns="0" tIns="0" rIns="0" bIns="0" rtlCol="0" anchor="t">
            <a:spAutoFit/>
          </a:bodyPr>
          <a:lstStyle/>
          <a:p>
            <a:pPr marL="0" indent="0" algn="l">
              <a:buNone/>
            </a:pPr>
            <a:r>
              <a:rPr lang="en-US" sz="2750" b="1" kern="0" spc="-1" dirty="0">
                <a:solidFill>
                  <a:srgbClr val="1A0B08"/>
                </a:solidFill>
                <a:latin typeface="Segoe UI" pitchFamily="34" charset="0"/>
                <a:ea typeface="Segoe UI" pitchFamily="34" charset="-122"/>
                <a:cs typeface="Segoe UI" pitchFamily="34" charset="-120"/>
              </a:rPr>
              <a:t>PRODUCT-CHANNEL MIX &amp; SEASONALITY</a:t>
            </a:r>
            <a:endParaRPr lang="en-US" sz="2750" dirty="0"/>
          </a:p>
        </p:txBody>
      </p:sp>
      <p:sp>
        <p:nvSpPr>
          <p:cNvPr id="36" name="Shape 1">
            <a:extLst>
              <a:ext uri="{FF2B5EF4-FFF2-40B4-BE49-F238E27FC236}">
                <a16:creationId xmlns:a16="http://schemas.microsoft.com/office/drawing/2014/main" id="{5C04F68F-7CD8-2AFD-5962-284E298B2ED7}"/>
              </a:ext>
            </a:extLst>
          </p:cNvPr>
          <p:cNvSpPr/>
          <p:nvPr/>
        </p:nvSpPr>
        <p:spPr>
          <a:xfrm>
            <a:off x="426027" y="1021278"/>
            <a:ext cx="3896595" cy="3401788"/>
          </a:xfrm>
          <a:prstGeom prst="rect">
            <a:avLst/>
          </a:prstGeom>
          <a:solidFill>
            <a:srgbClr val="FFFFFF"/>
          </a:solidFill>
          <a:ln w="54864">
            <a:solidFill>
              <a:srgbClr val="1A0B08"/>
            </a:solidFill>
            <a:prstDash val="solid"/>
          </a:ln>
        </p:spPr>
        <p:txBody>
          <a:bodyPr/>
          <a:lstStyle/>
          <a:p>
            <a:endParaRPr lang="es-ES"/>
          </a:p>
        </p:txBody>
      </p:sp>
      <p:pic>
        <p:nvPicPr>
          <p:cNvPr id="35" name="Imagen 34">
            <a:extLst>
              <a:ext uri="{FF2B5EF4-FFF2-40B4-BE49-F238E27FC236}">
                <a16:creationId xmlns:a16="http://schemas.microsoft.com/office/drawing/2014/main" id="{7CE7B6C0-FE93-39ED-810A-917991319B29}"/>
              </a:ext>
            </a:extLst>
          </p:cNvPr>
          <p:cNvPicPr>
            <a:picLocks noChangeAspect="1"/>
          </p:cNvPicPr>
          <p:nvPr/>
        </p:nvPicPr>
        <p:blipFill>
          <a:blip r:embed="rId3"/>
          <a:stretch>
            <a:fillRect/>
          </a:stretch>
        </p:blipFill>
        <p:spPr>
          <a:xfrm>
            <a:off x="467592" y="1057565"/>
            <a:ext cx="3813464" cy="3329214"/>
          </a:xfrm>
          <a:prstGeom prst="rect">
            <a:avLst/>
          </a:prstGeom>
          <a:ln>
            <a:noFill/>
          </a:ln>
          <a:effectLst>
            <a:softEdge rad="0"/>
          </a:effectLst>
        </p:spPr>
      </p:pic>
      <p:sp>
        <p:nvSpPr>
          <p:cNvPr id="38" name="Shape 1">
            <a:extLst>
              <a:ext uri="{FF2B5EF4-FFF2-40B4-BE49-F238E27FC236}">
                <a16:creationId xmlns:a16="http://schemas.microsoft.com/office/drawing/2014/main" id="{09CCB925-56BF-C183-0AF1-24BB85CFDA61}"/>
              </a:ext>
            </a:extLst>
          </p:cNvPr>
          <p:cNvSpPr/>
          <p:nvPr/>
        </p:nvSpPr>
        <p:spPr>
          <a:xfrm>
            <a:off x="4530926" y="1021278"/>
            <a:ext cx="4473374" cy="3401788"/>
          </a:xfrm>
          <a:prstGeom prst="rect">
            <a:avLst/>
          </a:prstGeom>
          <a:solidFill>
            <a:srgbClr val="FFFFFF"/>
          </a:solidFill>
          <a:ln w="54864">
            <a:solidFill>
              <a:srgbClr val="1A0B08"/>
            </a:solidFill>
            <a:prstDash val="solid"/>
          </a:ln>
        </p:spPr>
        <p:txBody>
          <a:bodyPr/>
          <a:lstStyle/>
          <a:p>
            <a:endParaRPr lang="es-ES"/>
          </a:p>
        </p:txBody>
      </p:sp>
      <p:pic>
        <p:nvPicPr>
          <p:cNvPr id="37" name="Imagen 36">
            <a:extLst>
              <a:ext uri="{FF2B5EF4-FFF2-40B4-BE49-F238E27FC236}">
                <a16:creationId xmlns:a16="http://schemas.microsoft.com/office/drawing/2014/main" id="{625D20C8-7693-2B21-C555-530C6678D3B1}"/>
              </a:ext>
            </a:extLst>
          </p:cNvPr>
          <p:cNvPicPr>
            <a:picLocks noChangeAspect="1"/>
          </p:cNvPicPr>
          <p:nvPr/>
        </p:nvPicPr>
        <p:blipFill>
          <a:blip r:embed="rId4"/>
          <a:stretch>
            <a:fillRect/>
          </a:stretch>
        </p:blipFill>
        <p:spPr>
          <a:xfrm>
            <a:off x="4613075" y="1156897"/>
            <a:ext cx="4240472" cy="3130550"/>
          </a:xfrm>
          <a:prstGeom prst="rect">
            <a:avLst/>
          </a:prstGeom>
        </p:spPr>
      </p:pic>
    </p:spTree>
    <p:extLst>
      <p:ext uri="{BB962C8B-B14F-4D97-AF65-F5344CB8AC3E}">
        <p14:creationId xmlns:p14="http://schemas.microsoft.com/office/powerpoint/2010/main" val="1250677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A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93192"/>
            <a:ext cx="5029200" cy="457200"/>
          </a:xfrm>
          <a:prstGeom prst="rect">
            <a:avLst/>
          </a:prstGeom>
          <a:noFill/>
        </p:spPr>
        <p:txBody>
          <a:bodyPr wrap="square">
            <a:spAutoFit/>
          </a:bodyPr>
          <a:lstStyle/>
          <a:p>
            <a:r>
              <a:rPr sz="2800" b="1">
                <a:solidFill>
                  <a:srgbClr val="1A0B08"/>
                </a:solidFill>
              </a:rPr>
              <a:t>MONTHLY SEASONALITY</a:t>
            </a:r>
          </a:p>
        </p:txBody>
      </p:sp>
      <p:sp>
        <p:nvSpPr>
          <p:cNvPr id="4" name="Rectangle 3"/>
          <p:cNvSpPr/>
          <p:nvPr/>
        </p:nvSpPr>
        <p:spPr>
          <a:xfrm>
            <a:off x="5413248" y="0"/>
            <a:ext cx="3730752" cy="5148072"/>
          </a:xfrm>
          <a:prstGeom prst="rect">
            <a:avLst/>
          </a:prstGeom>
          <a:solidFill>
            <a:srgbClr val="1A0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onthly_revenue.png"/>
          <p:cNvPicPr>
            <a:picLocks noChangeAspect="1"/>
          </p:cNvPicPr>
          <p:nvPr/>
        </p:nvPicPr>
        <p:blipFill>
          <a:blip r:embed="rId2"/>
          <a:stretch>
            <a:fillRect/>
          </a:stretch>
        </p:blipFill>
        <p:spPr>
          <a:xfrm>
            <a:off x="502920" y="1143000"/>
            <a:ext cx="4754880" cy="2697480"/>
          </a:xfrm>
          <a:prstGeom prst="rect">
            <a:avLst/>
          </a:prstGeom>
        </p:spPr>
      </p:pic>
      <p:sp>
        <p:nvSpPr>
          <p:cNvPr id="6" name="TextBox 5"/>
          <p:cNvSpPr txBox="1"/>
          <p:nvPr/>
        </p:nvSpPr>
        <p:spPr>
          <a:xfrm>
            <a:off x="5715000" y="502920"/>
            <a:ext cx="2971800" cy="411480"/>
          </a:xfrm>
          <a:prstGeom prst="rect">
            <a:avLst/>
          </a:prstGeom>
          <a:noFill/>
        </p:spPr>
        <p:txBody>
          <a:bodyPr wrap="square">
            <a:spAutoFit/>
          </a:bodyPr>
          <a:lstStyle/>
          <a:p>
            <a:r>
              <a:rPr sz="2500" b="1">
                <a:solidFill>
                  <a:srgbClr val="FFFFFF"/>
                </a:solidFill>
              </a:rPr>
              <a:t>YEAR-END PEAK</a:t>
            </a:r>
          </a:p>
        </p:txBody>
      </p:sp>
      <p:sp>
        <p:nvSpPr>
          <p:cNvPr id="7" name="Rectangle 6"/>
          <p:cNvSpPr/>
          <p:nvPr/>
        </p:nvSpPr>
        <p:spPr>
          <a:xfrm>
            <a:off x="5715000" y="1170432"/>
            <a:ext cx="2514600" cy="850392"/>
          </a:xfrm>
          <a:prstGeom prst="rect">
            <a:avLst/>
          </a:prstGeom>
          <a:solidFill>
            <a:srgbClr val="8B00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870448" y="1298448"/>
            <a:ext cx="2194560" cy="365760"/>
          </a:xfrm>
          <a:prstGeom prst="rect">
            <a:avLst/>
          </a:prstGeom>
          <a:noFill/>
        </p:spPr>
        <p:txBody>
          <a:bodyPr wrap="square">
            <a:spAutoFit/>
          </a:bodyPr>
          <a:lstStyle/>
          <a:p>
            <a:r>
              <a:rPr sz="2700" b="1">
                <a:solidFill>
                  <a:srgbClr val="FFFFFF"/>
                </a:solidFill>
              </a:rPr>
              <a:t>$16.6M</a:t>
            </a:r>
          </a:p>
        </p:txBody>
      </p:sp>
      <p:sp>
        <p:nvSpPr>
          <p:cNvPr id="9" name="TextBox 8"/>
          <p:cNvSpPr txBox="1"/>
          <p:nvPr/>
        </p:nvSpPr>
        <p:spPr>
          <a:xfrm>
            <a:off x="5870448" y="1719072"/>
            <a:ext cx="2194560" cy="228600"/>
          </a:xfrm>
          <a:prstGeom prst="rect">
            <a:avLst/>
          </a:prstGeom>
          <a:noFill/>
        </p:spPr>
        <p:txBody>
          <a:bodyPr wrap="square">
            <a:spAutoFit/>
          </a:bodyPr>
          <a:lstStyle/>
          <a:p>
            <a:r>
              <a:rPr sz="1100" b="1">
                <a:solidFill>
                  <a:srgbClr val="FFFFFF"/>
                </a:solidFill>
              </a:rPr>
              <a:t>Dec revenue</a:t>
            </a:r>
          </a:p>
        </p:txBody>
      </p:sp>
      <p:sp>
        <p:nvSpPr>
          <p:cNvPr id="10" name="TextBox 9"/>
          <p:cNvSpPr txBox="1"/>
          <p:nvPr/>
        </p:nvSpPr>
        <p:spPr>
          <a:xfrm>
            <a:off x="5715000" y="2331720"/>
            <a:ext cx="2834640" cy="1325880"/>
          </a:xfrm>
          <a:prstGeom prst="rect">
            <a:avLst/>
          </a:prstGeom>
          <a:noFill/>
        </p:spPr>
        <p:txBody>
          <a:bodyPr wrap="square">
            <a:spAutoFit/>
          </a:bodyPr>
          <a:lstStyle/>
          <a:p>
            <a:r>
              <a:rPr sz="1500" b="0">
                <a:solidFill>
                  <a:srgbClr val="FFFFFF"/>
                </a:solidFill>
              </a:rPr>
              <a:t>Revenue builds toward November and December, making the reopening plan strongest when inventory and campaigns prepare for year-end gift demand.</a:t>
            </a:r>
          </a:p>
        </p:txBody>
      </p:sp>
      <p:sp>
        <p:nvSpPr>
          <p:cNvPr id="11" name="TextBox 10"/>
          <p:cNvSpPr txBox="1"/>
          <p:nvPr/>
        </p:nvSpPr>
        <p:spPr>
          <a:xfrm>
            <a:off x="658368" y="4069080"/>
            <a:ext cx="4663440" cy="502920"/>
          </a:xfrm>
          <a:prstGeom prst="rect">
            <a:avLst/>
          </a:prstGeom>
          <a:noFill/>
        </p:spPr>
        <p:txBody>
          <a:bodyPr wrap="square">
            <a:spAutoFit/>
          </a:bodyPr>
          <a:lstStyle/>
          <a:p>
            <a:r>
              <a:rPr sz="1200" b="0">
                <a:solidFill>
                  <a:srgbClr val="333943"/>
                </a:solidFill>
              </a:rPr>
              <a:t>-- December is the strongest sales month across 2022-2023.</a:t>
            </a:r>
          </a:p>
        </p:txBody>
      </p:sp>
      <p:sp>
        <p:nvSpPr>
          <p:cNvPr id="12" name="TextBox 11"/>
          <p:cNvSpPr txBox="1"/>
          <p:nvPr/>
        </p:nvSpPr>
        <p:spPr>
          <a:xfrm>
            <a:off x="658368" y="4498848"/>
            <a:ext cx="4663440" cy="502920"/>
          </a:xfrm>
          <a:prstGeom prst="rect">
            <a:avLst/>
          </a:prstGeom>
          <a:noFill/>
        </p:spPr>
        <p:txBody>
          <a:bodyPr wrap="square">
            <a:spAutoFit/>
          </a:bodyPr>
          <a:lstStyle/>
          <a:p>
            <a:r>
              <a:rPr sz="1200" b="0">
                <a:solidFill>
                  <a:srgbClr val="333943"/>
                </a:solidFill>
              </a:rPr>
              <a:t>-- Reopening plans should treat Q4 as a stocking and campaign priority.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44698"/>
          </a:xfrm>
          <a:prstGeom prst="rect">
            <a:avLst/>
          </a:prstGeom>
          <a:noFill/>
          <a:ln/>
        </p:spPr>
        <p:txBody>
          <a:bodyPr wrap="square" lIns="170053" tIns="0" rIns="0" bIns="0" rtlCol="0" anchor="t">
            <a:spAutoFit/>
          </a:bodyPr>
          <a:lstStyle/>
          <a:p>
            <a:pPr marL="0" indent="0" algn="l">
              <a:buNone/>
            </a:pPr>
            <a:r>
              <a:rPr lang="en-US" sz="2750" b="1" kern="0" spc="-1" dirty="0">
                <a:solidFill>
                  <a:srgbClr val="1A0B08"/>
                </a:solidFill>
                <a:latin typeface="Segoe UI" pitchFamily="34" charset="0"/>
                <a:ea typeface="Segoe UI" pitchFamily="34" charset="-122"/>
                <a:cs typeface="Segoe UI" pitchFamily="34" charset="-120"/>
              </a:rPr>
              <a:t>SALESFORCE PERFORMANCE</a:t>
            </a:r>
            <a:endParaRPr lang="en-US" sz="2750" dirty="0"/>
          </a:p>
        </p:txBody>
      </p:sp>
      <p:sp>
        <p:nvSpPr>
          <p:cNvPr id="5" name="Shape 1"/>
          <p:cNvSpPr/>
          <p:nvPr/>
        </p:nvSpPr>
        <p:spPr>
          <a:xfrm>
            <a:off x="571500" y="1159073"/>
            <a:ext cx="4886325" cy="3846909"/>
          </a:xfrm>
          <a:prstGeom prst="rect">
            <a:avLst/>
          </a:prstGeom>
          <a:solidFill>
            <a:srgbClr val="FFFFFF"/>
          </a:solidFill>
          <a:ln w="54864">
            <a:solidFill>
              <a:srgbClr val="1A0B08"/>
            </a:solidFill>
            <a:prstDash val="solid"/>
          </a:ln>
        </p:spPr>
        <p:txBody>
          <a:bodyPr/>
          <a:lstStyle/>
          <a:p>
            <a:endParaRPr lang="es-ES"/>
          </a:p>
        </p:txBody>
      </p:sp>
      <p:sp>
        <p:nvSpPr>
          <p:cNvPr id="7" name="Shape 2"/>
          <p:cNvSpPr/>
          <p:nvPr/>
        </p:nvSpPr>
        <p:spPr>
          <a:xfrm>
            <a:off x="5743268" y="1159073"/>
            <a:ext cx="2829232" cy="1935956"/>
          </a:xfrm>
          <a:prstGeom prst="rect">
            <a:avLst/>
          </a:prstGeom>
          <a:solidFill>
            <a:srgbClr val="FFFFFF"/>
          </a:solidFill>
          <a:ln w="54864">
            <a:solidFill>
              <a:srgbClr val="1A0B08"/>
            </a:solidFill>
            <a:prstDash val="solid"/>
          </a:ln>
        </p:spPr>
        <p:txBody>
          <a:bodyPr/>
          <a:lstStyle/>
          <a:p>
            <a:endParaRPr lang="es-ES"/>
          </a:p>
        </p:txBody>
      </p:sp>
      <p:sp>
        <p:nvSpPr>
          <p:cNvPr id="14" name="Text 9"/>
          <p:cNvSpPr/>
          <p:nvPr/>
        </p:nvSpPr>
        <p:spPr>
          <a:xfrm>
            <a:off x="5843281" y="1827014"/>
            <a:ext cx="1186086" cy="389334"/>
          </a:xfrm>
          <a:prstGeom prst="rect">
            <a:avLst/>
          </a:prstGeom>
          <a:noFill/>
          <a:ln/>
        </p:spPr>
        <p:txBody>
          <a:bodyPr wrap="none" lIns="127508" tIns="127508" rIns="127508" bIns="127508" rtlCol="0" anchor="ctr">
            <a:spAutoFit/>
          </a:bodyPr>
          <a:lstStyle/>
          <a:p>
            <a:r>
              <a:rPr sz="1200">
                <a:solidFill>
                  <a:srgbClr val="333943"/>
                </a:solidFill>
              </a:rPr>
              <a:t>Arjun Mehta</a:t>
            </a:r>
          </a:p>
        </p:txBody>
      </p:sp>
      <p:sp>
        <p:nvSpPr>
          <p:cNvPr id="15" name="Text 10"/>
          <p:cNvSpPr/>
          <p:nvPr/>
        </p:nvSpPr>
        <p:spPr>
          <a:xfrm>
            <a:off x="7029366" y="1827014"/>
            <a:ext cx="643021" cy="389334"/>
          </a:xfrm>
          <a:prstGeom prst="rect">
            <a:avLst/>
          </a:prstGeom>
          <a:noFill/>
          <a:ln/>
        </p:spPr>
        <p:txBody>
          <a:bodyPr wrap="none" lIns="127508" tIns="127508" rIns="127508" bIns="127508" rtlCol="0" anchor="ctr">
            <a:spAutoFit/>
          </a:bodyPr>
          <a:lstStyle/>
          <a:p>
            <a:r>
              <a:rPr sz="1200">
                <a:solidFill>
                  <a:srgbClr val="333943"/>
                </a:solidFill>
              </a:rPr>
              <a:t>$50.9M</a:t>
            </a:r>
          </a:p>
        </p:txBody>
      </p:sp>
      <p:sp>
        <p:nvSpPr>
          <p:cNvPr id="16" name="Text 11"/>
          <p:cNvSpPr/>
          <p:nvPr/>
        </p:nvSpPr>
        <p:spPr>
          <a:xfrm>
            <a:off x="7672388" y="1827014"/>
            <a:ext cx="885825" cy="389334"/>
          </a:xfrm>
          <a:prstGeom prst="rect">
            <a:avLst/>
          </a:prstGeom>
          <a:noFill/>
          <a:ln/>
        </p:spPr>
        <p:txBody>
          <a:bodyPr wrap="none" lIns="127508" tIns="127508" rIns="127508" bIns="127508" rtlCol="0" anchor="ctr">
            <a:spAutoFit/>
          </a:bodyPr>
          <a:lstStyle/>
          <a:p>
            <a:r>
              <a:rPr sz="1400">
                <a:solidFill>
                  <a:srgbClr val="333943"/>
                </a:solidFill>
              </a:rPr>
              <a:t>13.1%</a:t>
            </a:r>
          </a:p>
        </p:txBody>
      </p:sp>
      <p:sp>
        <p:nvSpPr>
          <p:cNvPr id="17" name="Text 12"/>
          <p:cNvSpPr/>
          <p:nvPr/>
        </p:nvSpPr>
        <p:spPr>
          <a:xfrm>
            <a:off x="5843281" y="2216348"/>
            <a:ext cx="1186086" cy="389334"/>
          </a:xfrm>
          <a:prstGeom prst="rect">
            <a:avLst/>
          </a:prstGeom>
          <a:noFill/>
          <a:ln/>
        </p:spPr>
        <p:txBody>
          <a:bodyPr wrap="none" lIns="127508" tIns="127508" rIns="127508" bIns="127508" rtlCol="0" anchor="ctr">
            <a:spAutoFit/>
          </a:bodyPr>
          <a:lstStyle/>
          <a:p>
            <a:r>
              <a:rPr sz="1200">
                <a:solidFill>
                  <a:srgbClr val="333943"/>
                </a:solidFill>
              </a:rPr>
              <a:t>Priya Sharma</a:t>
            </a:r>
          </a:p>
        </p:txBody>
      </p:sp>
      <p:sp>
        <p:nvSpPr>
          <p:cNvPr id="18" name="Text 13"/>
          <p:cNvSpPr/>
          <p:nvPr/>
        </p:nvSpPr>
        <p:spPr>
          <a:xfrm>
            <a:off x="7029366" y="2216348"/>
            <a:ext cx="643021" cy="389334"/>
          </a:xfrm>
          <a:prstGeom prst="rect">
            <a:avLst/>
          </a:prstGeom>
          <a:noFill/>
          <a:ln/>
        </p:spPr>
        <p:txBody>
          <a:bodyPr wrap="none" lIns="127508" tIns="127508" rIns="127508" bIns="127508" rtlCol="0" anchor="ctr">
            <a:spAutoFit/>
          </a:bodyPr>
          <a:lstStyle/>
          <a:p>
            <a:r>
              <a:rPr sz="1200">
                <a:solidFill>
                  <a:srgbClr val="333943"/>
                </a:solidFill>
              </a:rPr>
              <a:t>$22.2M</a:t>
            </a:r>
          </a:p>
        </p:txBody>
      </p:sp>
      <p:sp>
        <p:nvSpPr>
          <p:cNvPr id="19" name="Text 14"/>
          <p:cNvSpPr/>
          <p:nvPr/>
        </p:nvSpPr>
        <p:spPr>
          <a:xfrm>
            <a:off x="7672388" y="2216348"/>
            <a:ext cx="885825" cy="389334"/>
          </a:xfrm>
          <a:prstGeom prst="rect">
            <a:avLst/>
          </a:prstGeom>
          <a:noFill/>
          <a:ln/>
        </p:spPr>
        <p:txBody>
          <a:bodyPr wrap="none" lIns="127508" tIns="127508" rIns="127508" bIns="127508" rtlCol="0" anchor="ctr">
            <a:spAutoFit/>
          </a:bodyPr>
          <a:lstStyle/>
          <a:p>
            <a:r>
              <a:rPr sz="1400">
                <a:solidFill>
                  <a:srgbClr val="333943"/>
                </a:solidFill>
              </a:rPr>
              <a:t>13.1%</a:t>
            </a:r>
          </a:p>
        </p:txBody>
      </p:sp>
      <p:sp>
        <p:nvSpPr>
          <p:cNvPr id="20" name="Text 15"/>
          <p:cNvSpPr/>
          <p:nvPr/>
        </p:nvSpPr>
        <p:spPr>
          <a:xfrm>
            <a:off x="5843281" y="2605683"/>
            <a:ext cx="1186086" cy="389334"/>
          </a:xfrm>
          <a:prstGeom prst="rect">
            <a:avLst/>
          </a:prstGeom>
          <a:noFill/>
          <a:ln/>
        </p:spPr>
        <p:txBody>
          <a:bodyPr wrap="none" lIns="127508" tIns="127508" rIns="127508" bIns="127508" rtlCol="0" anchor="ctr">
            <a:spAutoFit/>
          </a:bodyPr>
          <a:lstStyle/>
          <a:p>
            <a:r>
              <a:rPr sz="1200">
                <a:solidFill>
                  <a:srgbClr val="333943"/>
                </a:solidFill>
              </a:rPr>
              <a:t>Emily Clarke</a:t>
            </a:r>
          </a:p>
        </p:txBody>
      </p:sp>
      <p:sp>
        <p:nvSpPr>
          <p:cNvPr id="21" name="Text 16"/>
          <p:cNvSpPr/>
          <p:nvPr/>
        </p:nvSpPr>
        <p:spPr>
          <a:xfrm>
            <a:off x="7029366" y="2605683"/>
            <a:ext cx="643021" cy="389334"/>
          </a:xfrm>
          <a:prstGeom prst="rect">
            <a:avLst/>
          </a:prstGeom>
          <a:noFill/>
          <a:ln/>
        </p:spPr>
        <p:txBody>
          <a:bodyPr wrap="none" lIns="127508" tIns="127508" rIns="127508" bIns="127508" rtlCol="0" anchor="ctr">
            <a:spAutoFit/>
          </a:bodyPr>
          <a:lstStyle/>
          <a:p>
            <a:r>
              <a:rPr sz="1200">
                <a:solidFill>
                  <a:srgbClr val="333943"/>
                </a:solidFill>
              </a:rPr>
              <a:t>$13.4M</a:t>
            </a:r>
          </a:p>
        </p:txBody>
      </p:sp>
      <p:sp>
        <p:nvSpPr>
          <p:cNvPr id="22" name="Text 17"/>
          <p:cNvSpPr/>
          <p:nvPr/>
        </p:nvSpPr>
        <p:spPr>
          <a:xfrm>
            <a:off x="7672388" y="2605683"/>
            <a:ext cx="885825" cy="389334"/>
          </a:xfrm>
          <a:prstGeom prst="rect">
            <a:avLst/>
          </a:prstGeom>
          <a:noFill/>
          <a:ln/>
        </p:spPr>
        <p:txBody>
          <a:bodyPr wrap="none" lIns="127508" tIns="127508" rIns="127508" bIns="127508" rtlCol="0" anchor="ctr">
            <a:spAutoFit/>
          </a:bodyPr>
          <a:lstStyle/>
          <a:p>
            <a:r>
              <a:rPr sz="1400">
                <a:solidFill>
                  <a:srgbClr val="333943"/>
                </a:solidFill>
              </a:rPr>
              <a:t>13.1%</a:t>
            </a:r>
          </a:p>
        </p:txBody>
      </p:sp>
      <p:sp>
        <p:nvSpPr>
          <p:cNvPr id="2" name="Shape 3">
            <a:extLst>
              <a:ext uri="{FF2B5EF4-FFF2-40B4-BE49-F238E27FC236}">
                <a16:creationId xmlns:a16="http://schemas.microsoft.com/office/drawing/2014/main" id="{BA159CEF-A2F3-9978-FDD8-7573B1C7ED69}"/>
              </a:ext>
            </a:extLst>
          </p:cNvPr>
          <p:cNvSpPr/>
          <p:nvPr/>
        </p:nvSpPr>
        <p:spPr>
          <a:xfrm>
            <a:off x="5760906" y="1181341"/>
            <a:ext cx="2793956" cy="667941"/>
          </a:xfrm>
          <a:prstGeom prst="rect">
            <a:avLst/>
          </a:prstGeom>
          <a:solidFill>
            <a:srgbClr val="8B0000"/>
          </a:solidFill>
          <a:ln/>
        </p:spPr>
        <p:txBody>
          <a:bodyPr/>
          <a:lstStyle/>
          <a:p>
            <a:endParaRPr lang="es-ES"/>
          </a:p>
        </p:txBody>
      </p:sp>
      <p:sp>
        <p:nvSpPr>
          <p:cNvPr id="23" name="Shape 18"/>
          <p:cNvSpPr/>
          <p:nvPr/>
        </p:nvSpPr>
        <p:spPr>
          <a:xfrm>
            <a:off x="5828993" y="3223617"/>
            <a:ext cx="2743507" cy="1696641"/>
          </a:xfrm>
          <a:prstGeom prst="rect">
            <a:avLst/>
          </a:prstGeom>
          <a:solidFill>
            <a:srgbClr val="1A0B08"/>
          </a:solidFill>
          <a:ln/>
        </p:spPr>
        <p:txBody>
          <a:bodyPr/>
          <a:lstStyle/>
          <a:p>
            <a:endParaRPr lang="es-ES"/>
          </a:p>
        </p:txBody>
      </p:sp>
      <p:sp>
        <p:nvSpPr>
          <p:cNvPr id="24" name="Text 19"/>
          <p:cNvSpPr/>
          <p:nvPr/>
        </p:nvSpPr>
        <p:spPr>
          <a:xfrm>
            <a:off x="6043306" y="3437930"/>
            <a:ext cx="2314882" cy="196453"/>
          </a:xfrm>
          <a:prstGeom prst="rect">
            <a:avLst/>
          </a:prstGeom>
          <a:noFill/>
          <a:ln/>
        </p:spPr>
        <p:txBody>
          <a:bodyPr wrap="square" lIns="0" tIns="0" rIns="0" bIns="0" rtlCol="0" anchor="t">
            <a:spAutoFit/>
          </a:bodyPr>
          <a:lstStyle/>
          <a:p>
            <a:pPr marL="0" indent="0" algn="l">
              <a:buNone/>
            </a:pPr>
            <a:r>
              <a:rPr lang="en-US" sz="1200" b="1" dirty="0">
                <a:solidFill>
                  <a:srgbClr val="FDF0ED"/>
                </a:solidFill>
                <a:latin typeface="Segoe UI" pitchFamily="34" charset="0"/>
                <a:ea typeface="Segoe UI" pitchFamily="34" charset="-122"/>
                <a:cs typeface="Segoe UI" pitchFamily="34" charset="-120"/>
              </a:rPr>
              <a:t>DISCOUNT LEVERAGE</a:t>
            </a:r>
            <a:endParaRPr lang="en-US" sz="1200" dirty="0"/>
          </a:p>
        </p:txBody>
      </p:sp>
      <p:sp>
        <p:nvSpPr>
          <p:cNvPr id="25" name="Text 20"/>
          <p:cNvSpPr/>
          <p:nvPr/>
        </p:nvSpPr>
        <p:spPr>
          <a:xfrm>
            <a:off x="6043306" y="3705820"/>
            <a:ext cx="2314882" cy="709040"/>
          </a:xfrm>
          <a:prstGeom prst="rect">
            <a:avLst/>
          </a:prstGeom>
          <a:noFill/>
          <a:ln/>
        </p:spPr>
        <p:txBody>
          <a:bodyPr wrap="square" lIns="0" tIns="0" rIns="0" bIns="0" rtlCol="0" anchor="t">
            <a:spAutoFit/>
          </a:bodyPr>
          <a:lstStyle/>
          <a:p>
            <a:pPr>
              <a:lnSpc>
                <a:spcPct val="112000"/>
              </a:lnSpc>
            </a:pPr>
            <a:r>
              <a:rPr sz="1050" dirty="0">
                <a:solidFill>
                  <a:srgbClr val="FDF0ED"/>
                </a:solidFill>
                <a:latin typeface="Segoe UI" pitchFamily="34" charset="0"/>
                <a:cs typeface="Segoe UI" pitchFamily="34" charset="-120"/>
              </a:rPr>
              <a:t>Arjun Mehta leads revenue. Discount levels are similar across top performers, so performance appears driven by account coverage and execution.</a:t>
            </a:r>
          </a:p>
        </p:txBody>
      </p:sp>
      <p:pic>
        <p:nvPicPr>
          <p:cNvPr id="26" name="Picture 25" descr="salesperson_revenue.png"/>
          <p:cNvPicPr>
            <a:picLocks noChangeAspect="1"/>
          </p:cNvPicPr>
          <p:nvPr/>
        </p:nvPicPr>
        <p:blipFill>
          <a:blip r:embed="rId4"/>
          <a:stretch>
            <a:fillRect/>
          </a:stretch>
        </p:blipFill>
        <p:spPr>
          <a:xfrm>
            <a:off x="714375" y="1373386"/>
            <a:ext cx="4486275" cy="2857500"/>
          </a:xfrm>
          <a:prstGeom prst="rect">
            <a:avLst/>
          </a:prstGeom>
        </p:spPr>
      </p:pic>
      <p:sp>
        <p:nvSpPr>
          <p:cNvPr id="13" name="Text 8"/>
          <p:cNvSpPr/>
          <p:nvPr/>
        </p:nvSpPr>
        <p:spPr>
          <a:xfrm>
            <a:off x="7672388" y="1159073"/>
            <a:ext cx="885825" cy="667941"/>
          </a:xfrm>
          <a:prstGeom prst="rect">
            <a:avLst/>
          </a:prstGeom>
          <a:noFill/>
          <a:ln/>
        </p:spPr>
        <p:txBody>
          <a:bodyPr wrap="none" lIns="127508" tIns="127508" rIns="127508" bIns="127508" rtlCol="0" anchor="ctr">
            <a:spAutoFit/>
          </a:bodyPr>
          <a:lstStyle/>
          <a:p>
            <a:r>
              <a:rPr sz="1100" b="1" dirty="0">
                <a:solidFill>
                  <a:srgbClr val="FFFFFF"/>
                </a:solidFill>
              </a:rPr>
              <a:t>AVG DISC.</a:t>
            </a:r>
          </a:p>
        </p:txBody>
      </p:sp>
      <p:sp>
        <p:nvSpPr>
          <p:cNvPr id="9" name="Text 4"/>
          <p:cNvSpPr/>
          <p:nvPr/>
        </p:nvSpPr>
        <p:spPr>
          <a:xfrm>
            <a:off x="5843281" y="1159073"/>
            <a:ext cx="1186086" cy="667941"/>
          </a:xfrm>
          <a:prstGeom prst="rect">
            <a:avLst/>
          </a:prstGeom>
          <a:noFill/>
          <a:ln/>
        </p:spPr>
        <p:txBody>
          <a:bodyPr wrap="none" lIns="127508" tIns="127508" rIns="127508" bIns="127508" rtlCol="0" anchor="ctr">
            <a:spAutoFit/>
          </a:bodyPr>
          <a:lstStyle/>
          <a:p>
            <a:pPr marL="0" indent="0" algn="l">
              <a:buNone/>
            </a:pPr>
            <a:r>
              <a:rPr lang="en-US" sz="900" b="1" dirty="0">
                <a:solidFill>
                  <a:srgbClr val="FDF0ED"/>
                </a:solidFill>
                <a:latin typeface="Segoe UI" pitchFamily="34" charset="0"/>
                <a:ea typeface="Segoe UI" pitchFamily="34" charset="-122"/>
                <a:cs typeface="Segoe UI" pitchFamily="34" charset="-120"/>
              </a:rPr>
              <a:t>SALESPERSON</a:t>
            </a:r>
            <a:endParaRPr lang="en-US" sz="900" dirty="0"/>
          </a:p>
        </p:txBody>
      </p:sp>
      <p:sp>
        <p:nvSpPr>
          <p:cNvPr id="11" name="Text 6"/>
          <p:cNvSpPr/>
          <p:nvPr/>
        </p:nvSpPr>
        <p:spPr>
          <a:xfrm>
            <a:off x="6886645" y="1170206"/>
            <a:ext cx="643021" cy="667941"/>
          </a:xfrm>
          <a:prstGeom prst="rect">
            <a:avLst/>
          </a:prstGeom>
          <a:noFill/>
          <a:ln/>
        </p:spPr>
        <p:txBody>
          <a:bodyPr wrap="none" lIns="127508" tIns="127508" rIns="127508" bIns="127508" rtlCol="0" anchor="ctr">
            <a:spAutoFit/>
          </a:bodyPr>
          <a:lstStyle/>
          <a:p>
            <a:r>
              <a:rPr sz="1100" b="1" dirty="0">
                <a:solidFill>
                  <a:srgbClr val="FFFFFF"/>
                </a:solidFill>
              </a:rPr>
              <a:t>SALES ($M)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4286250" cy="5143500"/>
          </a:xfrm>
          <a:prstGeom prst="rect">
            <a:avLst/>
          </a:prstGeom>
          <a:solidFill>
            <a:srgbClr val="1A0B08"/>
          </a:solidFill>
          <a:ln/>
        </p:spPr>
        <p:txBody>
          <a:bodyPr/>
          <a:lstStyle/>
          <a:p>
            <a:endParaRPr lang="es-ES"/>
          </a:p>
        </p:txBody>
      </p:sp>
      <p:sp>
        <p:nvSpPr>
          <p:cNvPr id="5" name="Shape 1"/>
          <p:cNvSpPr/>
          <p:nvPr/>
        </p:nvSpPr>
        <p:spPr>
          <a:xfrm>
            <a:off x="4229100" y="0"/>
            <a:ext cx="57150" cy="5143500"/>
          </a:xfrm>
          <a:prstGeom prst="rect">
            <a:avLst/>
          </a:prstGeom>
          <a:solidFill>
            <a:srgbClr val="8B0000"/>
          </a:solidFill>
          <a:ln/>
        </p:spPr>
        <p:txBody>
          <a:bodyPr/>
          <a:lstStyle/>
          <a:p>
            <a:endParaRPr lang="es-ES"/>
          </a:p>
        </p:txBody>
      </p:sp>
      <p:sp>
        <p:nvSpPr>
          <p:cNvPr id="6" name="Text 2"/>
          <p:cNvSpPr/>
          <p:nvPr/>
        </p:nvSpPr>
        <p:spPr>
          <a:xfrm>
            <a:off x="428625" y="428625"/>
            <a:ext cx="3571875" cy="344686"/>
          </a:xfrm>
          <a:prstGeom prst="rect">
            <a:avLst/>
          </a:prstGeom>
          <a:noFill/>
          <a:ln/>
        </p:spPr>
        <p:txBody>
          <a:bodyPr wrap="square" lIns="0" tIns="0" rIns="0" bIns="0" rtlCol="0" anchor="t">
            <a:spAutoFit/>
          </a:bodyPr>
          <a:lstStyle/>
          <a:p>
            <a:pPr marL="0" indent="0" algn="l">
              <a:buNone/>
            </a:pPr>
            <a:r>
              <a:rPr lang="en-US" sz="2100" b="1" kern="0" spc="-1" dirty="0">
                <a:solidFill>
                  <a:srgbClr val="FDF0ED"/>
                </a:solidFill>
                <a:latin typeface="Segoe UI" pitchFamily="34" charset="0"/>
                <a:ea typeface="Segoe UI" pitchFamily="34" charset="-122"/>
                <a:cs typeface="Segoe UI" pitchFamily="34" charset="-120"/>
              </a:rPr>
              <a:t>SQL POWER</a:t>
            </a:r>
            <a:endParaRPr lang="en-US" sz="2100" dirty="0"/>
          </a:p>
        </p:txBody>
      </p:sp>
      <p:sp>
        <p:nvSpPr>
          <p:cNvPr id="7" name="Text 3"/>
          <p:cNvSpPr/>
          <p:nvPr/>
        </p:nvSpPr>
        <p:spPr>
          <a:xfrm>
            <a:off x="428625" y="987623"/>
            <a:ext cx="3571875" cy="323165"/>
          </a:xfrm>
          <a:prstGeom prst="rect">
            <a:avLst/>
          </a:prstGeom>
          <a:noFill/>
          <a:ln/>
        </p:spPr>
        <p:txBody>
          <a:bodyPr wrap="square" lIns="0" tIns="0" rIns="0" bIns="0" rtlCol="0" anchor="t">
            <a:spAutoFit/>
          </a:bodyPr>
          <a:lstStyle/>
          <a:p>
            <a:r>
              <a:rPr sz="1050" dirty="0">
                <a:solidFill>
                  <a:srgbClr val="FDF0ED">
                    <a:alpha val="80000"/>
                  </a:srgbClr>
                </a:solidFill>
                <a:latin typeface="Segoe UI" pitchFamily="34" charset="0"/>
                <a:cs typeface="Segoe UI" pitchFamily="34" charset="-120"/>
              </a:rPr>
              <a:t>SQL grouped markets, products, channels, and months into reusable decision tables.</a:t>
            </a:r>
          </a:p>
        </p:txBody>
      </p:sp>
      <p:sp>
        <p:nvSpPr>
          <p:cNvPr id="8" name="Shape 4"/>
          <p:cNvSpPr/>
          <p:nvPr/>
        </p:nvSpPr>
        <p:spPr>
          <a:xfrm>
            <a:off x="428625" y="1459111"/>
            <a:ext cx="3571875" cy="1368028"/>
          </a:xfrm>
          <a:prstGeom prst="rect">
            <a:avLst/>
          </a:prstGeom>
          <a:solidFill>
            <a:srgbClr val="2F3640"/>
          </a:solidFill>
          <a:ln w="27432">
            <a:solidFill>
              <a:srgbClr val="8B0000"/>
            </a:solidFill>
            <a:prstDash val="solid"/>
          </a:ln>
        </p:spPr>
        <p:txBody>
          <a:bodyPr/>
          <a:lstStyle/>
          <a:p>
            <a:endParaRPr lang="es-ES"/>
          </a:p>
        </p:txBody>
      </p:sp>
      <p:sp>
        <p:nvSpPr>
          <p:cNvPr id="9" name="Text 5"/>
          <p:cNvSpPr/>
          <p:nvPr/>
        </p:nvSpPr>
        <p:spPr>
          <a:xfrm>
            <a:off x="428625" y="1459111"/>
            <a:ext cx="3571875" cy="1451423"/>
          </a:xfrm>
          <a:prstGeom prst="rect">
            <a:avLst/>
          </a:prstGeom>
          <a:noFill/>
          <a:ln/>
        </p:spPr>
        <p:txBody>
          <a:bodyPr wrap="square" lIns="170053" tIns="170053" rIns="170053" bIns="170053" rtlCol="0" anchor="t">
            <a:spAutoFit/>
          </a:bodyPr>
          <a:lstStyle/>
          <a:p>
            <a:r>
              <a:rPr sz="900" dirty="0">
                <a:solidFill>
                  <a:srgbClr val="35B8E8"/>
                </a:solidFill>
              </a:rPr>
              <a:t>SELECT country,</a:t>
            </a:r>
          </a:p>
          <a:p>
            <a:r>
              <a:rPr sz="900" dirty="0">
                <a:solidFill>
                  <a:srgbClr val="35B8E8"/>
                </a:solidFill>
              </a:rPr>
              <a:t>       SUM(</a:t>
            </a:r>
            <a:r>
              <a:rPr sz="900" dirty="0" err="1">
                <a:solidFill>
                  <a:srgbClr val="35B8E8"/>
                </a:solidFill>
              </a:rPr>
              <a:t>amount_after_discount</a:t>
            </a:r>
            <a:r>
              <a:rPr sz="900" dirty="0">
                <a:solidFill>
                  <a:srgbClr val="35B8E8"/>
                </a:solidFill>
              </a:rPr>
              <a:t>) AS revenue,</a:t>
            </a:r>
          </a:p>
          <a:p>
            <a:r>
              <a:rPr sz="900" dirty="0">
                <a:solidFill>
                  <a:srgbClr val="35B8E8"/>
                </a:solidFill>
              </a:rPr>
              <a:t>       SUM(</a:t>
            </a:r>
            <a:r>
              <a:rPr sz="900" dirty="0" err="1">
                <a:solidFill>
                  <a:srgbClr val="35B8E8"/>
                </a:solidFill>
              </a:rPr>
              <a:t>marketing_spend</a:t>
            </a:r>
            <a:r>
              <a:rPr sz="900" dirty="0">
                <a:solidFill>
                  <a:srgbClr val="35B8E8"/>
                </a:solidFill>
              </a:rPr>
              <a:t>) AS marketing,</a:t>
            </a:r>
          </a:p>
          <a:p>
            <a:r>
              <a:rPr sz="900" dirty="0">
                <a:solidFill>
                  <a:srgbClr val="35B8E8"/>
                </a:solidFill>
              </a:rPr>
              <a:t>       SUM(</a:t>
            </a:r>
            <a:r>
              <a:rPr sz="900" dirty="0" err="1">
                <a:solidFill>
                  <a:srgbClr val="35B8E8"/>
                </a:solidFill>
              </a:rPr>
              <a:t>amount_after_discount</a:t>
            </a:r>
            <a:r>
              <a:rPr sz="900" dirty="0">
                <a:solidFill>
                  <a:srgbClr val="35B8E8"/>
                </a:solidFill>
              </a:rPr>
              <a:t>) / SUM(</a:t>
            </a:r>
            <a:r>
              <a:rPr sz="900" dirty="0" err="1">
                <a:solidFill>
                  <a:srgbClr val="35B8E8"/>
                </a:solidFill>
              </a:rPr>
              <a:t>marketing_spend</a:t>
            </a:r>
            <a:r>
              <a:rPr sz="900" dirty="0">
                <a:solidFill>
                  <a:srgbClr val="35B8E8"/>
                </a:solidFill>
              </a:rPr>
              <a:t>) AS </a:t>
            </a:r>
            <a:r>
              <a:rPr sz="900" dirty="0" err="1">
                <a:solidFill>
                  <a:srgbClr val="35B8E8"/>
                </a:solidFill>
              </a:rPr>
              <a:t>roi</a:t>
            </a:r>
            <a:endParaRPr sz="900" dirty="0">
              <a:solidFill>
                <a:srgbClr val="35B8E8"/>
              </a:solidFill>
            </a:endParaRPr>
          </a:p>
          <a:p>
            <a:r>
              <a:rPr sz="900" dirty="0">
                <a:solidFill>
                  <a:srgbClr val="35B8E8"/>
                </a:solidFill>
              </a:rPr>
              <a:t>FROM invoices</a:t>
            </a:r>
          </a:p>
          <a:p>
            <a:r>
              <a:rPr sz="900" dirty="0">
                <a:solidFill>
                  <a:srgbClr val="35B8E8"/>
                </a:solidFill>
              </a:rPr>
              <a:t>WHERE </a:t>
            </a:r>
            <a:r>
              <a:rPr sz="900" dirty="0" err="1">
                <a:solidFill>
                  <a:srgbClr val="35B8E8"/>
                </a:solidFill>
              </a:rPr>
              <a:t>boxes_shipped</a:t>
            </a:r>
            <a:r>
              <a:rPr sz="900" dirty="0">
                <a:solidFill>
                  <a:srgbClr val="35B8E8"/>
                </a:solidFill>
              </a:rPr>
              <a:t> &gt;= 0</a:t>
            </a:r>
          </a:p>
          <a:p>
            <a:r>
              <a:rPr sz="900" dirty="0">
                <a:solidFill>
                  <a:srgbClr val="35B8E8"/>
                </a:solidFill>
              </a:rPr>
              <a:t>GROUP BY country</a:t>
            </a:r>
          </a:p>
          <a:p>
            <a:r>
              <a:rPr sz="900" dirty="0">
                <a:solidFill>
                  <a:srgbClr val="35B8E8"/>
                </a:solidFill>
              </a:rPr>
              <a:t>ORDER BY revenue DESC;</a:t>
            </a:r>
          </a:p>
        </p:txBody>
      </p:sp>
      <p:sp>
        <p:nvSpPr>
          <p:cNvPr id="10" name="Shape 6"/>
          <p:cNvSpPr/>
          <p:nvPr/>
        </p:nvSpPr>
        <p:spPr>
          <a:xfrm>
            <a:off x="428625" y="2912864"/>
            <a:ext cx="1418704" cy="203597"/>
          </a:xfrm>
          <a:prstGeom prst="rect">
            <a:avLst/>
          </a:prstGeom>
          <a:solidFill>
            <a:srgbClr val="8B0000"/>
          </a:solidFill>
          <a:ln/>
        </p:spPr>
        <p:txBody>
          <a:bodyPr/>
          <a:lstStyle/>
          <a:p>
            <a:endParaRPr lang="es-ES"/>
          </a:p>
        </p:txBody>
      </p:sp>
      <p:sp>
        <p:nvSpPr>
          <p:cNvPr id="11" name="Text 7"/>
          <p:cNvSpPr/>
          <p:nvPr/>
        </p:nvSpPr>
        <p:spPr>
          <a:xfrm>
            <a:off x="428625" y="2912864"/>
            <a:ext cx="1418704" cy="203597"/>
          </a:xfrm>
          <a:prstGeom prst="rect">
            <a:avLst/>
          </a:prstGeom>
          <a:noFill/>
          <a:ln/>
        </p:spPr>
        <p:txBody>
          <a:bodyPr wrap="square" lIns="127508" tIns="42545" rIns="127508" bIns="42545" rtlCol="0" anchor="t">
            <a:spAutoFit/>
          </a:bodyPr>
          <a:lstStyle/>
          <a:p>
            <a:pPr marL="0" indent="0" algn="l">
              <a:buNone/>
            </a:pPr>
            <a:r>
              <a:rPr lang="en-US" sz="800" b="1" dirty="0">
                <a:solidFill>
                  <a:srgbClr val="FDF0ED"/>
                </a:solidFill>
                <a:latin typeface="Segoe UI" pitchFamily="34" charset="0"/>
                <a:ea typeface="Segoe UI" pitchFamily="34" charset="-122"/>
                <a:cs typeface="Segoe UI" pitchFamily="34" charset="-120"/>
              </a:rPr>
              <a:t>MYSQL WORKBENCH</a:t>
            </a:r>
            <a:endParaRPr lang="en-US" sz="800" dirty="0"/>
          </a:p>
        </p:txBody>
      </p:sp>
      <p:sp>
        <p:nvSpPr>
          <p:cNvPr id="12" name="Text 8"/>
          <p:cNvSpPr/>
          <p:nvPr/>
        </p:nvSpPr>
        <p:spPr>
          <a:xfrm>
            <a:off x="4714875" y="428625"/>
            <a:ext cx="4000500" cy="344686"/>
          </a:xfrm>
          <a:prstGeom prst="rect">
            <a:avLst/>
          </a:prstGeom>
          <a:noFill/>
          <a:ln/>
        </p:spPr>
        <p:txBody>
          <a:bodyPr wrap="square" lIns="0" tIns="0" rIns="0" bIns="0" rtlCol="0" anchor="t">
            <a:spAutoFit/>
          </a:bodyPr>
          <a:lstStyle/>
          <a:p>
            <a:pPr marL="0" indent="0" algn="l">
              <a:buNone/>
            </a:pPr>
            <a:r>
              <a:rPr lang="en-US" sz="2100" b="1" kern="0" spc="-1" dirty="0">
                <a:solidFill>
                  <a:srgbClr val="1A0B08"/>
                </a:solidFill>
                <a:latin typeface="Segoe UI" pitchFamily="34" charset="0"/>
                <a:ea typeface="Segoe UI" pitchFamily="34" charset="-122"/>
                <a:cs typeface="Segoe UI" pitchFamily="34" charset="-120"/>
              </a:rPr>
              <a:t>PYTHON ANALYSIS</a:t>
            </a:r>
            <a:endParaRPr lang="en-US" sz="2100" dirty="0"/>
          </a:p>
        </p:txBody>
      </p:sp>
      <p:sp>
        <p:nvSpPr>
          <p:cNvPr id="13" name="Shape 9"/>
          <p:cNvSpPr/>
          <p:nvPr/>
        </p:nvSpPr>
        <p:spPr>
          <a:xfrm>
            <a:off x="4714875" y="987623"/>
            <a:ext cx="4000500" cy="1489472"/>
          </a:xfrm>
          <a:prstGeom prst="rect">
            <a:avLst/>
          </a:prstGeom>
          <a:solidFill>
            <a:srgbClr val="FFFFFF"/>
          </a:solidFill>
          <a:ln w="54864">
            <a:solidFill>
              <a:srgbClr val="1A0B08"/>
            </a:solidFill>
            <a:prstDash val="solid"/>
          </a:ln>
        </p:spPr>
        <p:txBody>
          <a:bodyPr/>
          <a:lstStyle/>
          <a:p>
            <a:endParaRPr lang="es-ES"/>
          </a:p>
        </p:txBody>
      </p:sp>
      <p:sp>
        <p:nvSpPr>
          <p:cNvPr id="14" name="Text 10"/>
          <p:cNvSpPr/>
          <p:nvPr/>
        </p:nvSpPr>
        <p:spPr>
          <a:xfrm>
            <a:off x="4929188" y="1201936"/>
            <a:ext cx="3571875" cy="196453"/>
          </a:xfrm>
          <a:prstGeom prst="rect">
            <a:avLst/>
          </a:prstGeom>
          <a:noFill/>
          <a:ln/>
        </p:spPr>
        <p:txBody>
          <a:bodyPr wrap="square" lIns="0" tIns="0" rIns="0" bIns="0" rtlCol="0" anchor="t">
            <a:spAutoFit/>
          </a:bodyPr>
          <a:lstStyle/>
          <a:p>
            <a:pPr marL="0" indent="0" algn="l">
              <a:buNone/>
            </a:pPr>
            <a:r>
              <a:rPr lang="en-US" sz="1200" b="1" dirty="0">
                <a:solidFill>
                  <a:srgbClr val="8B0000"/>
                </a:solidFill>
                <a:latin typeface="Segoe UI" pitchFamily="34" charset="0"/>
                <a:ea typeface="Segoe UI" pitchFamily="34" charset="-122"/>
                <a:cs typeface="Segoe UI" pitchFamily="34" charset="-120"/>
              </a:rPr>
              <a:t>ADVANCED VISUALIZATION</a:t>
            </a:r>
            <a:endParaRPr lang="en-US" sz="1200" dirty="0"/>
          </a:p>
        </p:txBody>
      </p:sp>
      <p:sp>
        <p:nvSpPr>
          <p:cNvPr id="15" name="Text 11"/>
          <p:cNvSpPr/>
          <p:nvPr/>
        </p:nvSpPr>
        <p:spPr>
          <a:xfrm>
            <a:off x="4929188" y="1505545"/>
            <a:ext cx="3571875" cy="642938"/>
          </a:xfrm>
          <a:prstGeom prst="rect">
            <a:avLst/>
          </a:prstGeom>
          <a:noFill/>
          <a:ln/>
        </p:spPr>
        <p:txBody>
          <a:bodyPr wrap="square" lIns="0" tIns="0" rIns="0" bIns="0" rtlCol="0" anchor="t">
            <a:spAutoFit/>
          </a:bodyPr>
          <a:lstStyle/>
          <a:p>
            <a:r>
              <a:rPr sz="1100" dirty="0">
                <a:solidFill>
                  <a:srgbClr val="1A0B08"/>
                </a:solidFill>
              </a:rPr>
              <a:t>Python charts turn SQL outputs into decision visuals.</a:t>
            </a:r>
          </a:p>
        </p:txBody>
      </p:sp>
      <p:sp>
        <p:nvSpPr>
          <p:cNvPr id="16" name="Shape 12"/>
          <p:cNvSpPr/>
          <p:nvPr/>
        </p:nvSpPr>
        <p:spPr>
          <a:xfrm>
            <a:off x="4714875" y="2505670"/>
            <a:ext cx="4000500" cy="1275159"/>
          </a:xfrm>
          <a:prstGeom prst="rect">
            <a:avLst/>
          </a:prstGeom>
          <a:solidFill>
            <a:srgbClr val="FFFFFF"/>
          </a:solidFill>
          <a:ln w="54864">
            <a:solidFill>
              <a:srgbClr val="1A0B08"/>
            </a:solidFill>
            <a:prstDash val="solid"/>
          </a:ln>
        </p:spPr>
        <p:txBody>
          <a:bodyPr/>
          <a:lstStyle/>
          <a:p>
            <a:endParaRPr lang="es-ES"/>
          </a:p>
        </p:txBody>
      </p:sp>
      <p:sp>
        <p:nvSpPr>
          <p:cNvPr id="17" name="Text 13"/>
          <p:cNvSpPr/>
          <p:nvPr/>
        </p:nvSpPr>
        <p:spPr>
          <a:xfrm>
            <a:off x="4929188" y="2719983"/>
            <a:ext cx="3571875" cy="196453"/>
          </a:xfrm>
          <a:prstGeom prst="rect">
            <a:avLst/>
          </a:prstGeom>
          <a:noFill/>
          <a:ln/>
        </p:spPr>
        <p:txBody>
          <a:bodyPr wrap="square" lIns="0" tIns="0" rIns="0" bIns="0" rtlCol="0" anchor="t">
            <a:spAutoFit/>
          </a:bodyPr>
          <a:lstStyle/>
          <a:p>
            <a:pPr marL="0" indent="0" algn="l">
              <a:buNone/>
            </a:pPr>
            <a:r>
              <a:rPr lang="en-US" sz="1200" b="1" dirty="0">
                <a:solidFill>
                  <a:srgbClr val="8B0000"/>
                </a:solidFill>
                <a:latin typeface="Segoe UI" pitchFamily="34" charset="0"/>
                <a:ea typeface="Segoe UI" pitchFamily="34" charset="-122"/>
                <a:cs typeface="Segoe UI" pitchFamily="34" charset="-120"/>
              </a:rPr>
              <a:t>DATA INTEGRITY</a:t>
            </a:r>
            <a:endParaRPr lang="en-US" sz="1200" dirty="0"/>
          </a:p>
        </p:txBody>
      </p:sp>
      <p:sp>
        <p:nvSpPr>
          <p:cNvPr id="18" name="Text 14"/>
          <p:cNvSpPr/>
          <p:nvPr/>
        </p:nvSpPr>
        <p:spPr>
          <a:xfrm>
            <a:off x="4929188" y="3023592"/>
            <a:ext cx="3571875" cy="428625"/>
          </a:xfrm>
          <a:prstGeom prst="rect">
            <a:avLst/>
          </a:prstGeom>
          <a:noFill/>
          <a:ln/>
        </p:spPr>
        <p:txBody>
          <a:bodyPr wrap="square" lIns="0" tIns="0" rIns="0" bIns="0" rtlCol="0" anchor="t">
            <a:spAutoFit/>
          </a:bodyPr>
          <a:lstStyle/>
          <a:p>
            <a:r>
              <a:rPr sz="1100">
                <a:solidFill>
                  <a:srgbClr val="1A0B08"/>
                </a:solidFill>
              </a:rPr>
              <a:t>Return rows are excluded from sales KPIs; normalized tables keep joins reliable.</a:t>
            </a:r>
          </a:p>
        </p:txBody>
      </p:sp>
      <p:sp>
        <p:nvSpPr>
          <p:cNvPr id="19" name="Shape 15"/>
          <p:cNvSpPr/>
          <p:nvPr/>
        </p:nvSpPr>
        <p:spPr>
          <a:xfrm>
            <a:off x="4714875" y="3809405"/>
            <a:ext cx="1355303" cy="203597"/>
          </a:xfrm>
          <a:prstGeom prst="rect">
            <a:avLst/>
          </a:prstGeom>
          <a:solidFill>
            <a:srgbClr val="8B0000"/>
          </a:solidFill>
          <a:ln/>
        </p:spPr>
        <p:txBody>
          <a:bodyPr/>
          <a:lstStyle/>
          <a:p>
            <a:endParaRPr lang="es-ES"/>
          </a:p>
        </p:txBody>
      </p:sp>
      <p:sp>
        <p:nvSpPr>
          <p:cNvPr id="20" name="Text 16"/>
          <p:cNvSpPr/>
          <p:nvPr/>
        </p:nvSpPr>
        <p:spPr>
          <a:xfrm>
            <a:off x="4714875" y="3809405"/>
            <a:ext cx="1355303" cy="203597"/>
          </a:xfrm>
          <a:prstGeom prst="rect">
            <a:avLst/>
          </a:prstGeom>
          <a:noFill/>
          <a:ln/>
        </p:spPr>
        <p:txBody>
          <a:bodyPr wrap="square" lIns="127508" tIns="42545" rIns="127508" bIns="42545" rtlCol="0" anchor="t">
            <a:spAutoFit/>
          </a:bodyPr>
          <a:lstStyle/>
          <a:p>
            <a:pPr marL="0" indent="0" algn="l">
              <a:buNone/>
            </a:pPr>
            <a:r>
              <a:rPr lang="en-US" sz="800" b="1" dirty="0">
                <a:solidFill>
                  <a:srgbClr val="FDF0ED"/>
                </a:solidFill>
                <a:latin typeface="Segoe UI" pitchFamily="34" charset="0"/>
                <a:ea typeface="Segoe UI" pitchFamily="34" charset="-122"/>
                <a:cs typeface="Segoe UI" pitchFamily="34" charset="-120"/>
              </a:rPr>
              <a:t>PANDAS / SEABORN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3214688" cy="5143500"/>
          </a:xfrm>
          <a:prstGeom prst="rect">
            <a:avLst/>
          </a:prstGeom>
          <a:solidFill>
            <a:srgbClr val="8B0000"/>
          </a:solidFill>
          <a:ln/>
        </p:spPr>
        <p:txBody>
          <a:bodyPr/>
          <a:lstStyle/>
          <a:p>
            <a:endParaRPr lang="es-ES"/>
          </a:p>
        </p:txBody>
      </p:sp>
      <p:sp>
        <p:nvSpPr>
          <p:cNvPr id="5" name="Shape 1"/>
          <p:cNvSpPr/>
          <p:nvPr/>
        </p:nvSpPr>
        <p:spPr>
          <a:xfrm>
            <a:off x="3157538" y="0"/>
            <a:ext cx="57150" cy="5143500"/>
          </a:xfrm>
          <a:prstGeom prst="rect">
            <a:avLst/>
          </a:prstGeom>
          <a:solidFill>
            <a:srgbClr val="1A0B08"/>
          </a:solidFill>
          <a:ln/>
        </p:spPr>
        <p:txBody>
          <a:bodyPr/>
          <a:lstStyle/>
          <a:p>
            <a:endParaRPr lang="es-ES"/>
          </a:p>
        </p:txBody>
      </p:sp>
      <p:sp>
        <p:nvSpPr>
          <p:cNvPr id="6" name="Text 2"/>
          <p:cNvSpPr/>
          <p:nvPr/>
        </p:nvSpPr>
        <p:spPr>
          <a:xfrm>
            <a:off x="428625" y="428625"/>
            <a:ext cx="2500313" cy="754335"/>
          </a:xfrm>
          <a:prstGeom prst="rect">
            <a:avLst/>
          </a:prstGeom>
          <a:noFill/>
          <a:ln/>
        </p:spPr>
        <p:txBody>
          <a:bodyPr wrap="square" lIns="0" tIns="0" rIns="0" bIns="0" rtlCol="0" anchor="t">
            <a:spAutoFit/>
          </a:bodyPr>
          <a:lstStyle/>
          <a:p>
            <a:pPr marL="0" indent="0" algn="l">
              <a:lnSpc>
                <a:spcPct val="88000"/>
              </a:lnSpc>
              <a:buNone/>
            </a:pPr>
            <a:r>
              <a:rPr lang="en-US" sz="2450" b="1" kern="0" spc="-1" dirty="0">
                <a:solidFill>
                  <a:srgbClr val="FDF0ED"/>
                </a:solidFill>
                <a:latin typeface="Segoe UI" pitchFamily="34" charset="0"/>
                <a:ea typeface="Segoe UI" pitchFamily="34" charset="-122"/>
                <a:cs typeface="Segoe UI" pitchFamily="34" charset="-120"/>
              </a:rPr>
              <a:t>CHALLENGES &amp; OBSTACLES</a:t>
            </a:r>
            <a:endParaRPr lang="en-US" sz="2450" dirty="0"/>
          </a:p>
        </p:txBody>
      </p:sp>
      <p:sp>
        <p:nvSpPr>
          <p:cNvPr id="7" name="Text 3"/>
          <p:cNvSpPr/>
          <p:nvPr/>
        </p:nvSpPr>
        <p:spPr>
          <a:xfrm>
            <a:off x="614363" y="1797323"/>
            <a:ext cx="2128838" cy="196453"/>
          </a:xfrm>
          <a:prstGeom prst="rect">
            <a:avLst/>
          </a:prstGeom>
          <a:noFill/>
          <a:ln/>
        </p:spPr>
        <p:txBody>
          <a:bodyPr wrap="square" lIns="0" tIns="0" rIns="0" bIns="0" rtlCol="0" anchor="t">
            <a:spAutoFit/>
          </a:bodyPr>
          <a:lstStyle/>
          <a:p>
            <a:pPr marL="0" indent="0" algn="l">
              <a:buNone/>
            </a:pPr>
            <a:r>
              <a:rPr lang="en-US" sz="1200" b="1" dirty="0">
                <a:solidFill>
                  <a:srgbClr val="FDF0ED"/>
                </a:solidFill>
                <a:latin typeface="Segoe UI" pitchFamily="34" charset="0"/>
                <a:ea typeface="Segoe UI" pitchFamily="34" charset="-122"/>
                <a:cs typeface="Segoe UI" pitchFamily="34" charset="-120"/>
              </a:rPr>
              <a:t>DATA QUALITY</a:t>
            </a:r>
            <a:endParaRPr lang="en-US" sz="1200" dirty="0"/>
          </a:p>
        </p:txBody>
      </p:sp>
      <p:sp>
        <p:nvSpPr>
          <p:cNvPr id="8" name="Text 4"/>
          <p:cNvSpPr/>
          <p:nvPr/>
        </p:nvSpPr>
        <p:spPr>
          <a:xfrm>
            <a:off x="614363" y="2100932"/>
            <a:ext cx="2128838" cy="528093"/>
          </a:xfrm>
          <a:prstGeom prst="rect">
            <a:avLst/>
          </a:prstGeom>
          <a:noFill/>
          <a:ln/>
        </p:spPr>
        <p:txBody>
          <a:bodyPr wrap="square" lIns="0" tIns="0" rIns="0" bIns="0" rtlCol="0" anchor="t">
            <a:spAutoFit/>
          </a:bodyPr>
          <a:lstStyle/>
          <a:p>
            <a:pPr>
              <a:lnSpc>
                <a:spcPct val="112000"/>
              </a:lnSpc>
            </a:pPr>
            <a:r>
              <a:rPr sz="1050" dirty="0">
                <a:solidFill>
                  <a:srgbClr val="FDF0ED"/>
                </a:solidFill>
                <a:latin typeface="Segoe UI" pitchFamily="34" charset="0"/>
                <a:cs typeface="Segoe UI" pitchFamily="34" charset="-120"/>
              </a:rPr>
              <a:t>Negative shipped boxes required a business rule: treat returns as zero sales in KPI queries.</a:t>
            </a:r>
          </a:p>
        </p:txBody>
      </p:sp>
      <p:sp>
        <p:nvSpPr>
          <p:cNvPr id="9" name="Text 5"/>
          <p:cNvSpPr/>
          <p:nvPr/>
        </p:nvSpPr>
        <p:spPr>
          <a:xfrm>
            <a:off x="614363" y="3443957"/>
            <a:ext cx="2128838" cy="196453"/>
          </a:xfrm>
          <a:prstGeom prst="rect">
            <a:avLst/>
          </a:prstGeom>
          <a:noFill/>
          <a:ln/>
        </p:spPr>
        <p:txBody>
          <a:bodyPr wrap="square" lIns="0" tIns="0" rIns="0" bIns="0" rtlCol="0" anchor="t">
            <a:spAutoFit/>
          </a:bodyPr>
          <a:lstStyle/>
          <a:p>
            <a:pPr marL="0" indent="0" algn="l">
              <a:buNone/>
            </a:pPr>
            <a:r>
              <a:rPr lang="en-US" sz="1200" b="1" dirty="0">
                <a:solidFill>
                  <a:srgbClr val="FDF0ED"/>
                </a:solidFill>
                <a:latin typeface="Segoe UI" pitchFamily="34" charset="0"/>
                <a:ea typeface="Segoe UI" pitchFamily="34" charset="-122"/>
                <a:cs typeface="Segoe UI" pitchFamily="34" charset="-120"/>
              </a:rPr>
              <a:t>SQL INTEGRITY</a:t>
            </a:r>
            <a:endParaRPr lang="en-US" sz="1200" dirty="0"/>
          </a:p>
        </p:txBody>
      </p:sp>
      <p:sp>
        <p:nvSpPr>
          <p:cNvPr id="10" name="Text 6"/>
          <p:cNvSpPr/>
          <p:nvPr/>
        </p:nvSpPr>
        <p:spPr>
          <a:xfrm>
            <a:off x="614363" y="3747567"/>
            <a:ext cx="2128838" cy="528093"/>
          </a:xfrm>
          <a:prstGeom prst="rect">
            <a:avLst/>
          </a:prstGeom>
          <a:noFill/>
          <a:ln/>
        </p:spPr>
        <p:txBody>
          <a:bodyPr wrap="square" lIns="0" tIns="0" rIns="0" bIns="0" rtlCol="0" anchor="t">
            <a:spAutoFit/>
          </a:bodyPr>
          <a:lstStyle/>
          <a:p>
            <a:pPr>
              <a:lnSpc>
                <a:spcPct val="112000"/>
              </a:lnSpc>
            </a:pPr>
            <a:r>
              <a:rPr sz="1050" dirty="0">
                <a:solidFill>
                  <a:srgbClr val="FDF0ED"/>
                </a:solidFill>
                <a:latin typeface="Segoe UI" pitchFamily="34" charset="0"/>
                <a:cs typeface="Segoe UI" pitchFamily="34" charset="-120"/>
              </a:rPr>
              <a:t>Maintaining product and salesperson keys across CSV export and MySQL import was critical.</a:t>
            </a:r>
          </a:p>
        </p:txBody>
      </p:sp>
      <p:sp>
        <p:nvSpPr>
          <p:cNvPr id="11" name="Text 7"/>
          <p:cNvSpPr/>
          <p:nvPr/>
        </p:nvSpPr>
        <p:spPr>
          <a:xfrm>
            <a:off x="3643313" y="428625"/>
            <a:ext cx="5072063" cy="377168"/>
          </a:xfrm>
          <a:prstGeom prst="rect">
            <a:avLst/>
          </a:prstGeom>
          <a:noFill/>
          <a:ln/>
        </p:spPr>
        <p:txBody>
          <a:bodyPr wrap="none" lIns="0" tIns="0" rIns="0" bIns="0" rtlCol="0" anchor="t">
            <a:spAutoFit/>
          </a:bodyPr>
          <a:lstStyle/>
          <a:p>
            <a:pPr marL="0" indent="0" algn="l">
              <a:lnSpc>
                <a:spcPct val="88000"/>
              </a:lnSpc>
              <a:buNone/>
            </a:pPr>
            <a:r>
              <a:rPr lang="en-US" sz="2450" b="1" kern="0" spc="-1" dirty="0">
                <a:solidFill>
                  <a:srgbClr val="1A0B08"/>
                </a:solidFill>
                <a:latin typeface="Segoe UI" pitchFamily="34" charset="0"/>
                <a:ea typeface="Segoe UI" pitchFamily="34" charset="-122"/>
                <a:cs typeface="Segoe UI" pitchFamily="34" charset="-120"/>
              </a:rPr>
              <a:t>KEY LEARNINGS</a:t>
            </a:r>
            <a:endParaRPr lang="en-US" sz="2450" dirty="0"/>
          </a:p>
        </p:txBody>
      </p:sp>
      <p:sp>
        <p:nvSpPr>
          <p:cNvPr id="12" name="Shape 8"/>
          <p:cNvSpPr/>
          <p:nvPr/>
        </p:nvSpPr>
        <p:spPr>
          <a:xfrm>
            <a:off x="3643313" y="1091543"/>
            <a:ext cx="5072063" cy="1369814"/>
          </a:xfrm>
          <a:prstGeom prst="rect">
            <a:avLst/>
          </a:prstGeom>
          <a:solidFill>
            <a:srgbClr val="FFFFFF"/>
          </a:solidFill>
          <a:ln w="54864">
            <a:solidFill>
              <a:srgbClr val="1A0B08"/>
            </a:solidFill>
            <a:prstDash val="solid"/>
          </a:ln>
        </p:spPr>
        <p:txBody>
          <a:bodyPr/>
          <a:lstStyle/>
          <a:p>
            <a:endParaRPr lang="es-ES"/>
          </a:p>
        </p:txBody>
      </p:sp>
      <p:sp>
        <p:nvSpPr>
          <p:cNvPr id="13" name="Shape 9"/>
          <p:cNvSpPr/>
          <p:nvPr/>
        </p:nvSpPr>
        <p:spPr>
          <a:xfrm>
            <a:off x="3536156" y="984386"/>
            <a:ext cx="285750" cy="285750"/>
          </a:xfrm>
          <a:prstGeom prst="rect">
            <a:avLst/>
          </a:prstGeom>
          <a:solidFill>
            <a:srgbClr val="8B0000"/>
          </a:solidFill>
          <a:ln/>
        </p:spPr>
        <p:txBody>
          <a:bodyPr/>
          <a:lstStyle/>
          <a:p>
            <a:endParaRPr lang="es-ES"/>
          </a:p>
        </p:txBody>
      </p:sp>
      <p:sp>
        <p:nvSpPr>
          <p:cNvPr id="14" name="Text 10"/>
          <p:cNvSpPr/>
          <p:nvPr/>
        </p:nvSpPr>
        <p:spPr>
          <a:xfrm>
            <a:off x="3893344" y="1341574"/>
            <a:ext cx="4572000" cy="212527"/>
          </a:xfrm>
          <a:prstGeom prst="rect">
            <a:avLst/>
          </a:prstGeom>
          <a:noFill/>
          <a:ln/>
        </p:spPr>
        <p:txBody>
          <a:bodyPr wrap="square" lIns="0" tIns="0" rIns="0" bIns="0" rtlCol="0" anchor="t">
            <a:spAutoFit/>
          </a:bodyPr>
          <a:lstStyle/>
          <a:p>
            <a:pPr marL="0" indent="0" algn="l">
              <a:buNone/>
            </a:pPr>
            <a:r>
              <a:rPr lang="en-US" sz="1300" b="1" dirty="0">
                <a:solidFill>
                  <a:srgbClr val="8B0000"/>
                </a:solidFill>
                <a:latin typeface="Segoe UI" pitchFamily="34" charset="0"/>
                <a:ea typeface="Segoe UI" pitchFamily="34" charset="-122"/>
                <a:cs typeface="Segoe UI" pitchFamily="34" charset="-120"/>
              </a:rPr>
              <a:t>ROBUST MODELING</a:t>
            </a:r>
            <a:endParaRPr lang="en-US" sz="1300" dirty="0"/>
          </a:p>
        </p:txBody>
      </p:sp>
      <p:sp>
        <p:nvSpPr>
          <p:cNvPr id="15" name="Text 11"/>
          <p:cNvSpPr/>
          <p:nvPr/>
        </p:nvSpPr>
        <p:spPr>
          <a:xfrm>
            <a:off x="3893344" y="1625538"/>
            <a:ext cx="4572000" cy="405047"/>
          </a:xfrm>
          <a:prstGeom prst="rect">
            <a:avLst/>
          </a:prstGeom>
          <a:noFill/>
          <a:ln/>
        </p:spPr>
        <p:txBody>
          <a:bodyPr wrap="square" lIns="0" tIns="0" rIns="0" bIns="0" rtlCol="0" anchor="t">
            <a:spAutoFit/>
          </a:bodyPr>
          <a:lstStyle/>
          <a:p>
            <a:pPr>
              <a:lnSpc>
                <a:spcPct val="120000"/>
              </a:lnSpc>
            </a:pPr>
            <a:r>
              <a:rPr sz="1150" dirty="0">
                <a:solidFill>
                  <a:srgbClr val="2F3640"/>
                </a:solidFill>
                <a:latin typeface="Segoe UI" pitchFamily="34" charset="0"/>
                <a:cs typeface="Segoe UI" pitchFamily="34" charset="-120"/>
              </a:rPr>
              <a:t>A simple invoices-products-salespersons schema made the SQL analysis easier to explain.</a:t>
            </a:r>
          </a:p>
        </p:txBody>
      </p:sp>
      <p:sp>
        <p:nvSpPr>
          <p:cNvPr id="16" name="Shape 12"/>
          <p:cNvSpPr/>
          <p:nvPr/>
        </p:nvSpPr>
        <p:spPr>
          <a:xfrm>
            <a:off x="3643313" y="2525650"/>
            <a:ext cx="5072063" cy="1369814"/>
          </a:xfrm>
          <a:prstGeom prst="rect">
            <a:avLst/>
          </a:prstGeom>
          <a:solidFill>
            <a:srgbClr val="FFFFFF"/>
          </a:solidFill>
          <a:ln w="54864">
            <a:solidFill>
              <a:srgbClr val="1A0B08"/>
            </a:solidFill>
            <a:prstDash val="solid"/>
          </a:ln>
        </p:spPr>
        <p:txBody>
          <a:bodyPr/>
          <a:lstStyle/>
          <a:p>
            <a:endParaRPr lang="es-ES"/>
          </a:p>
        </p:txBody>
      </p:sp>
      <p:sp>
        <p:nvSpPr>
          <p:cNvPr id="17" name="Shape 13"/>
          <p:cNvSpPr/>
          <p:nvPr/>
        </p:nvSpPr>
        <p:spPr>
          <a:xfrm>
            <a:off x="3536156" y="2418494"/>
            <a:ext cx="285750" cy="285750"/>
          </a:xfrm>
          <a:prstGeom prst="rect">
            <a:avLst/>
          </a:prstGeom>
          <a:solidFill>
            <a:srgbClr val="8B0000"/>
          </a:solidFill>
          <a:ln/>
        </p:spPr>
        <p:txBody>
          <a:bodyPr/>
          <a:lstStyle/>
          <a:p>
            <a:endParaRPr lang="es-ES"/>
          </a:p>
        </p:txBody>
      </p:sp>
      <p:sp>
        <p:nvSpPr>
          <p:cNvPr id="18" name="Text 14"/>
          <p:cNvSpPr/>
          <p:nvPr/>
        </p:nvSpPr>
        <p:spPr>
          <a:xfrm>
            <a:off x="3893344" y="2775682"/>
            <a:ext cx="4572000" cy="212527"/>
          </a:xfrm>
          <a:prstGeom prst="rect">
            <a:avLst/>
          </a:prstGeom>
          <a:noFill/>
          <a:ln/>
        </p:spPr>
        <p:txBody>
          <a:bodyPr wrap="square" lIns="0" tIns="0" rIns="0" bIns="0" rtlCol="0" anchor="t">
            <a:spAutoFit/>
          </a:bodyPr>
          <a:lstStyle/>
          <a:p>
            <a:pPr marL="0" indent="0" algn="l">
              <a:buNone/>
            </a:pPr>
            <a:r>
              <a:rPr lang="en-US" sz="1300" b="1" dirty="0">
                <a:solidFill>
                  <a:srgbClr val="8B0000"/>
                </a:solidFill>
                <a:latin typeface="Segoe UI" pitchFamily="34" charset="0"/>
                <a:ea typeface="Segoe UI" pitchFamily="34" charset="-122"/>
                <a:cs typeface="Segoe UI" pitchFamily="34" charset="-120"/>
              </a:rPr>
              <a:t>ETL AUTOMATION</a:t>
            </a:r>
            <a:endParaRPr lang="en-US" sz="1300" dirty="0"/>
          </a:p>
        </p:txBody>
      </p:sp>
      <p:sp>
        <p:nvSpPr>
          <p:cNvPr id="19" name="Text 15"/>
          <p:cNvSpPr/>
          <p:nvPr/>
        </p:nvSpPr>
        <p:spPr>
          <a:xfrm>
            <a:off x="3893344" y="3059646"/>
            <a:ext cx="4572000" cy="405047"/>
          </a:xfrm>
          <a:prstGeom prst="rect">
            <a:avLst/>
          </a:prstGeom>
          <a:noFill/>
          <a:ln/>
        </p:spPr>
        <p:txBody>
          <a:bodyPr wrap="square" lIns="0" tIns="0" rIns="0" bIns="0" rtlCol="0" anchor="t">
            <a:spAutoFit/>
          </a:bodyPr>
          <a:lstStyle/>
          <a:p>
            <a:pPr>
              <a:lnSpc>
                <a:spcPct val="120000"/>
              </a:lnSpc>
            </a:pPr>
            <a:r>
              <a:rPr sz="1150" dirty="0">
                <a:solidFill>
                  <a:srgbClr val="2F3640"/>
                </a:solidFill>
                <a:latin typeface="Segoe UI" pitchFamily="34" charset="0"/>
                <a:cs typeface="Segoe UI" pitchFamily="34" charset="-120"/>
              </a:rPr>
              <a:t>Reusable cleaning and SQL notebooks allow the team to refresh the analysis as the story changes.</a:t>
            </a:r>
          </a:p>
        </p:txBody>
      </p:sp>
      <p:pic>
        <p:nvPicPr>
          <p:cNvPr id="20" name="Image 1" descr="preencoded.png"/>
          <p:cNvPicPr>
            <a:picLocks noChangeAspect="1"/>
          </p:cNvPicPr>
          <p:nvPr/>
        </p:nvPicPr>
        <p:blipFill>
          <a:blip r:embed="rId4"/>
          <a:stretch>
            <a:fillRect/>
          </a:stretch>
        </p:blipFill>
        <p:spPr>
          <a:xfrm>
            <a:off x="3643313" y="4066915"/>
            <a:ext cx="171450" cy="228600"/>
          </a:xfrm>
          <a:prstGeom prst="rect">
            <a:avLst/>
          </a:prstGeom>
        </p:spPr>
      </p:pic>
      <p:sp>
        <p:nvSpPr>
          <p:cNvPr id="21" name="Text 16"/>
          <p:cNvSpPr/>
          <p:nvPr/>
        </p:nvSpPr>
        <p:spPr>
          <a:xfrm>
            <a:off x="3921919" y="4115135"/>
            <a:ext cx="1807871" cy="132159"/>
          </a:xfrm>
          <a:prstGeom prst="rect">
            <a:avLst/>
          </a:prstGeom>
          <a:noFill/>
          <a:ln/>
        </p:spPr>
        <p:txBody>
          <a:bodyPr wrap="square" lIns="0" tIns="0" rIns="0" bIns="0" rtlCol="0" anchor="t">
            <a:spAutoFit/>
          </a:bodyPr>
          <a:lstStyle/>
          <a:p>
            <a:pPr marL="0" indent="0" algn="l">
              <a:buNone/>
            </a:pPr>
            <a:r>
              <a:rPr lang="en-US" sz="800" b="1" dirty="0">
                <a:solidFill>
                  <a:srgbClr val="1A0B08"/>
                </a:solidFill>
                <a:latin typeface="Segoe UI" pitchFamily="34" charset="0"/>
                <a:ea typeface="Segoe UI" pitchFamily="34" charset="-122"/>
                <a:cs typeface="Segoe UI" pitchFamily="34" charset="-120"/>
              </a:rPr>
              <a:t>TECHNICAL EXPERTISE GAINED</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A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02920"/>
            <a:ext cx="8046720" cy="502920"/>
          </a:xfrm>
          <a:prstGeom prst="rect">
            <a:avLst/>
          </a:prstGeom>
          <a:noFill/>
        </p:spPr>
        <p:txBody>
          <a:bodyPr wrap="square">
            <a:spAutoFit/>
          </a:bodyPr>
          <a:lstStyle/>
          <a:p>
            <a:r>
              <a:rPr sz="2800" b="1">
                <a:solidFill>
                  <a:srgbClr val="1A0B08"/>
                </a:solidFill>
              </a:rPr>
              <a:t>CONCLUSION &amp; 2026 REOPENING STRATEGY</a:t>
            </a:r>
          </a:p>
        </p:txBody>
      </p:sp>
      <p:sp>
        <p:nvSpPr>
          <p:cNvPr id="4" name="Rectangle 3"/>
          <p:cNvSpPr/>
          <p:nvPr/>
        </p:nvSpPr>
        <p:spPr>
          <a:xfrm>
            <a:off x="502920" y="1417320"/>
            <a:ext cx="2560320" cy="2880360"/>
          </a:xfrm>
          <a:prstGeom prst="rect">
            <a:avLst/>
          </a:prstGeom>
          <a:solidFill>
            <a:srgbClr val="FFFFFF"/>
          </a:solidFill>
          <a:ln>
            <a:solidFill>
              <a:srgbClr val="1A0B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417320"/>
            <a:ext cx="2560320" cy="566928"/>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572768"/>
            <a:ext cx="2560320" cy="274320"/>
          </a:xfrm>
          <a:prstGeom prst="rect">
            <a:avLst/>
          </a:prstGeom>
          <a:noFill/>
        </p:spPr>
        <p:txBody>
          <a:bodyPr wrap="square">
            <a:spAutoFit/>
          </a:bodyPr>
          <a:lstStyle/>
          <a:p>
            <a:pPr algn="ctr"/>
            <a:r>
              <a:rPr sz="1400" b="1">
                <a:solidFill>
                  <a:srgbClr val="FFFFFF"/>
                </a:solidFill>
              </a:rPr>
              <a:t>MARKET</a:t>
            </a:r>
          </a:p>
        </p:txBody>
      </p:sp>
      <p:sp>
        <p:nvSpPr>
          <p:cNvPr id="7" name="TextBox 6"/>
          <p:cNvSpPr txBox="1"/>
          <p:nvPr/>
        </p:nvSpPr>
        <p:spPr>
          <a:xfrm>
            <a:off x="704088" y="2240280"/>
            <a:ext cx="2148840" cy="347472"/>
          </a:xfrm>
          <a:prstGeom prst="rect">
            <a:avLst/>
          </a:prstGeom>
          <a:noFill/>
        </p:spPr>
        <p:txBody>
          <a:bodyPr wrap="square">
            <a:spAutoFit/>
          </a:bodyPr>
          <a:lstStyle/>
          <a:p>
            <a:r>
              <a:rPr sz="1300" b="1">
                <a:solidFill>
                  <a:srgbClr val="8B0000"/>
                </a:solidFill>
              </a:rPr>
              <a:t>Australia For Scale</a:t>
            </a:r>
          </a:p>
        </p:txBody>
      </p:sp>
      <p:sp>
        <p:nvSpPr>
          <p:cNvPr id="8" name="TextBox 7"/>
          <p:cNvSpPr txBox="1"/>
          <p:nvPr/>
        </p:nvSpPr>
        <p:spPr>
          <a:xfrm>
            <a:off x="704088" y="2697480"/>
            <a:ext cx="2148840" cy="1143000"/>
          </a:xfrm>
          <a:prstGeom prst="rect">
            <a:avLst/>
          </a:prstGeom>
          <a:noFill/>
        </p:spPr>
        <p:txBody>
          <a:bodyPr wrap="square">
            <a:spAutoFit/>
          </a:bodyPr>
          <a:lstStyle/>
          <a:p>
            <a:r>
              <a:rPr sz="1100" b="0">
                <a:solidFill>
                  <a:srgbClr val="333943"/>
                </a:solidFill>
              </a:rPr>
              <a:t>Lead with Australia as the largest market at $62.1M. Use Brazil's 10.80 ROI as the marketing-efficiency benchmark.</a:t>
            </a:r>
          </a:p>
        </p:txBody>
      </p:sp>
      <p:sp>
        <p:nvSpPr>
          <p:cNvPr id="9" name="Rectangle 8"/>
          <p:cNvSpPr/>
          <p:nvPr/>
        </p:nvSpPr>
        <p:spPr>
          <a:xfrm>
            <a:off x="3355848" y="1417320"/>
            <a:ext cx="2560320" cy="2880360"/>
          </a:xfrm>
          <a:prstGeom prst="rect">
            <a:avLst/>
          </a:prstGeom>
          <a:solidFill>
            <a:srgbClr val="FFFFFF"/>
          </a:solidFill>
          <a:ln>
            <a:solidFill>
              <a:srgbClr val="1A0B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355848" y="1417320"/>
            <a:ext cx="2560320" cy="566928"/>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55848" y="1572768"/>
            <a:ext cx="2560320" cy="274320"/>
          </a:xfrm>
          <a:prstGeom prst="rect">
            <a:avLst/>
          </a:prstGeom>
          <a:noFill/>
        </p:spPr>
        <p:txBody>
          <a:bodyPr wrap="square">
            <a:spAutoFit/>
          </a:bodyPr>
          <a:lstStyle/>
          <a:p>
            <a:pPr algn="ctr"/>
            <a:r>
              <a:rPr sz="1400" b="1">
                <a:solidFill>
                  <a:srgbClr val="FFFFFF"/>
                </a:solidFill>
              </a:rPr>
              <a:t>PRODUCT</a:t>
            </a:r>
          </a:p>
        </p:txBody>
      </p:sp>
      <p:sp>
        <p:nvSpPr>
          <p:cNvPr id="12" name="TextBox 11"/>
          <p:cNvSpPr txBox="1"/>
          <p:nvPr/>
        </p:nvSpPr>
        <p:spPr>
          <a:xfrm>
            <a:off x="3557016" y="2240280"/>
            <a:ext cx="2148840" cy="347472"/>
          </a:xfrm>
          <a:prstGeom prst="rect">
            <a:avLst/>
          </a:prstGeom>
          <a:noFill/>
        </p:spPr>
        <p:txBody>
          <a:bodyPr wrap="square">
            <a:spAutoFit/>
          </a:bodyPr>
          <a:lstStyle/>
          <a:p>
            <a:r>
              <a:rPr sz="1300" b="1">
                <a:solidFill>
                  <a:srgbClr val="8B0000"/>
                </a:solidFill>
              </a:rPr>
              <a:t>Gift Box Expansion</a:t>
            </a:r>
          </a:p>
        </p:txBody>
      </p:sp>
      <p:sp>
        <p:nvSpPr>
          <p:cNvPr id="13" name="TextBox 12"/>
          <p:cNvSpPr txBox="1"/>
          <p:nvPr/>
        </p:nvSpPr>
        <p:spPr>
          <a:xfrm>
            <a:off x="3557016" y="2697480"/>
            <a:ext cx="2148840" cy="1143000"/>
          </a:xfrm>
          <a:prstGeom prst="rect">
            <a:avLst/>
          </a:prstGeom>
          <a:noFill/>
        </p:spPr>
        <p:txBody>
          <a:bodyPr wrap="square">
            <a:spAutoFit/>
          </a:bodyPr>
          <a:lstStyle/>
          <a:p>
            <a:r>
              <a:rPr sz="1100" b="0">
                <a:solidFill>
                  <a:srgbClr val="333943"/>
                </a:solidFill>
              </a:rPr>
              <a:t>Prioritize Mixed Assortment Box for revenue, while keeping 70% Dark Bar available for high unit demand.</a:t>
            </a:r>
          </a:p>
        </p:txBody>
      </p:sp>
      <p:sp>
        <p:nvSpPr>
          <p:cNvPr id="14" name="Rectangle 13"/>
          <p:cNvSpPr/>
          <p:nvPr/>
        </p:nvSpPr>
        <p:spPr>
          <a:xfrm>
            <a:off x="6208776" y="1417320"/>
            <a:ext cx="2560320" cy="2880360"/>
          </a:xfrm>
          <a:prstGeom prst="rect">
            <a:avLst/>
          </a:prstGeom>
          <a:solidFill>
            <a:srgbClr val="FFFFFF"/>
          </a:solidFill>
          <a:ln>
            <a:solidFill>
              <a:srgbClr val="1A0B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08776" y="1417320"/>
            <a:ext cx="2560320" cy="566928"/>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08776" y="1572768"/>
            <a:ext cx="2560320" cy="274320"/>
          </a:xfrm>
          <a:prstGeom prst="rect">
            <a:avLst/>
          </a:prstGeom>
          <a:noFill/>
        </p:spPr>
        <p:txBody>
          <a:bodyPr wrap="square">
            <a:spAutoFit/>
          </a:bodyPr>
          <a:lstStyle/>
          <a:p>
            <a:pPr algn="ctr"/>
            <a:r>
              <a:rPr sz="1400" b="1">
                <a:solidFill>
                  <a:srgbClr val="FFFFFF"/>
                </a:solidFill>
              </a:rPr>
              <a:t>SALES</a:t>
            </a:r>
          </a:p>
        </p:txBody>
      </p:sp>
      <p:sp>
        <p:nvSpPr>
          <p:cNvPr id="17" name="TextBox 16"/>
          <p:cNvSpPr txBox="1"/>
          <p:nvPr/>
        </p:nvSpPr>
        <p:spPr>
          <a:xfrm>
            <a:off x="6409944" y="2240280"/>
            <a:ext cx="2148840" cy="347472"/>
          </a:xfrm>
          <a:prstGeom prst="rect">
            <a:avLst/>
          </a:prstGeom>
          <a:noFill/>
        </p:spPr>
        <p:txBody>
          <a:bodyPr wrap="square">
            <a:spAutoFit/>
          </a:bodyPr>
          <a:lstStyle/>
          <a:p>
            <a:r>
              <a:rPr sz="1300" b="1">
                <a:solidFill>
                  <a:srgbClr val="8B0000"/>
                </a:solidFill>
              </a:rPr>
              <a:t>Retail-Led Launch</a:t>
            </a:r>
          </a:p>
        </p:txBody>
      </p:sp>
      <p:sp>
        <p:nvSpPr>
          <p:cNvPr id="18" name="TextBox 17"/>
          <p:cNvSpPr txBox="1"/>
          <p:nvPr/>
        </p:nvSpPr>
        <p:spPr>
          <a:xfrm>
            <a:off x="6409944" y="2697480"/>
            <a:ext cx="2148840" cy="1143000"/>
          </a:xfrm>
          <a:prstGeom prst="rect">
            <a:avLst/>
          </a:prstGeom>
          <a:noFill/>
        </p:spPr>
        <p:txBody>
          <a:bodyPr wrap="square">
            <a:spAutoFit/>
          </a:bodyPr>
          <a:lstStyle/>
          <a:p>
            <a:r>
              <a:rPr sz="1100" b="0">
                <a:solidFill>
                  <a:srgbClr val="333943"/>
                </a:solidFill>
              </a:rPr>
              <a:t>Retail leads revenue. Wholesale remains useful for volume, but it should not be the primary launch story.</a:t>
            </a:r>
          </a:p>
        </p:txBody>
      </p:sp>
      <p:sp>
        <p:nvSpPr>
          <p:cNvPr id="19" name="Rectangle 18"/>
          <p:cNvSpPr/>
          <p:nvPr/>
        </p:nvSpPr>
        <p:spPr>
          <a:xfrm>
            <a:off x="0" y="4709160"/>
            <a:ext cx="9144000" cy="429768"/>
          </a:xfrm>
          <a:prstGeom prst="rect">
            <a:avLst/>
          </a:prstGeom>
          <a:solidFill>
            <a:srgbClr val="1A0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0312" y="4800600"/>
            <a:ext cx="4754880" cy="228600"/>
          </a:xfrm>
          <a:prstGeom prst="rect">
            <a:avLst/>
          </a:prstGeom>
          <a:noFill/>
        </p:spPr>
        <p:txBody>
          <a:bodyPr wrap="square">
            <a:spAutoFit/>
          </a:bodyPr>
          <a:lstStyle/>
          <a:p>
            <a:r>
              <a:rPr sz="1100" b="0">
                <a:solidFill>
                  <a:srgbClr val="FFFFFF"/>
                </a:solidFill>
              </a:rPr>
              <a:t>TEAM 6 = JUDA, JUAN, MALIKA | IRONHACK 2026</a:t>
            </a:r>
          </a:p>
        </p:txBody>
      </p:sp>
      <p:sp>
        <p:nvSpPr>
          <p:cNvPr id="21" name="TextBox 20"/>
          <p:cNvSpPr txBox="1"/>
          <p:nvPr/>
        </p:nvSpPr>
        <p:spPr>
          <a:xfrm>
            <a:off x="6876796" y="4800600"/>
            <a:ext cx="1892300" cy="261610"/>
          </a:xfrm>
          <a:prstGeom prst="rect">
            <a:avLst/>
          </a:prstGeom>
          <a:noFill/>
        </p:spPr>
        <p:txBody>
          <a:bodyPr wrap="square">
            <a:spAutoFit/>
          </a:bodyPr>
          <a:lstStyle/>
          <a:p>
            <a:r>
              <a:rPr sz="1100" b="0" dirty="0">
                <a:solidFill>
                  <a:schemeClr val="bg1"/>
                </a:solidFill>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1018</TotalTime>
  <Words>1272</Words>
  <Application>Microsoft Macintosh PowerPoint</Application>
  <PresentationFormat>On-screen Show (16:9)</PresentationFormat>
  <Paragraphs>148</Paragraphs>
  <Slides>12</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Juan Francisco Calvo Sánchez</cp:lastModifiedBy>
  <cp:revision>8</cp:revision>
  <dcterms:created xsi:type="dcterms:W3CDTF">2026-07-09T15:57:02Z</dcterms:created>
  <dcterms:modified xsi:type="dcterms:W3CDTF">2026-07-10T21:51:55Z</dcterms:modified>
</cp:coreProperties>
</file>